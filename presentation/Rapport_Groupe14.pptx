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13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191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anto-nyaina/Projet_Marketing_digita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4443" y="-36199"/>
            <a:ext cx="4207557" cy="2245999"/>
          </a:xfrm>
          <a:custGeom>
            <a:avLst/>
            <a:gdLst/>
            <a:ahLst/>
            <a:cxnLst/>
            <a:rect l="l" t="t" r="r" b="b"/>
            <a:pathLst>
              <a:path w="4953000" h="4476750">
                <a:moveTo>
                  <a:pt x="0" y="0"/>
                </a:moveTo>
                <a:lnTo>
                  <a:pt x="4953000" y="0"/>
                </a:lnTo>
                <a:lnTo>
                  <a:pt x="4953000" y="4476750"/>
                </a:lnTo>
                <a:close/>
              </a:path>
            </a:pathLst>
          </a:custGeom>
          <a:solidFill>
            <a:srgbClr val="90ABC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91250"/>
            <a:ext cx="2190750" cy="666750"/>
          </a:xfrm>
          <a:custGeom>
            <a:avLst/>
            <a:gdLst/>
            <a:ahLst/>
            <a:cxnLst/>
            <a:rect l="l" t="t" r="r" b="b"/>
            <a:pathLst>
              <a:path w="2190750" h="666750">
                <a:moveTo>
                  <a:pt x="0" y="0"/>
                </a:moveTo>
                <a:lnTo>
                  <a:pt x="2190750" y="666750"/>
                </a:lnTo>
                <a:lnTo>
                  <a:pt x="0" y="666750"/>
                </a:lnTo>
                <a:close/>
              </a:path>
            </a:pathLst>
          </a:custGeom>
          <a:solidFill>
            <a:srgbClr val="364766"/>
          </a:solidFill>
          <a:ln/>
        </p:spPr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4B7A8A8B-6E2D-43F6-AA1A-EC17A826F1E4}"/>
              </a:ext>
            </a:extLst>
          </p:cNvPr>
          <p:cNvGrpSpPr/>
          <p:nvPr/>
        </p:nvGrpSpPr>
        <p:grpSpPr>
          <a:xfrm>
            <a:off x="457200" y="265030"/>
            <a:ext cx="1375410" cy="348371"/>
            <a:chOff x="569595" y="559240"/>
            <a:chExt cx="1375410" cy="348371"/>
          </a:xfrm>
        </p:grpSpPr>
        <p:sp>
          <p:nvSpPr>
            <p:cNvPr id="4" name="Shape 2"/>
            <p:cNvSpPr/>
            <p:nvPr/>
          </p:nvSpPr>
          <p:spPr>
            <a:xfrm>
              <a:off x="569595" y="559240"/>
              <a:ext cx="41910" cy="81671"/>
            </a:xfrm>
            <a:prstGeom prst="ellipse">
              <a:avLst/>
            </a:prstGeom>
            <a:solidFill>
              <a:srgbClr val="90ABCE"/>
            </a:solidFill>
            <a:ln/>
          </p:spPr>
        </p:sp>
        <p:sp>
          <p:nvSpPr>
            <p:cNvPr id="5" name="Shape 3"/>
            <p:cNvSpPr/>
            <p:nvPr/>
          </p:nvSpPr>
          <p:spPr>
            <a:xfrm>
              <a:off x="836295" y="559240"/>
              <a:ext cx="41910" cy="81671"/>
            </a:xfrm>
            <a:prstGeom prst="ellipse">
              <a:avLst/>
            </a:prstGeom>
            <a:solidFill>
              <a:srgbClr val="90ABCE"/>
            </a:solidFill>
            <a:ln/>
          </p:spPr>
        </p:sp>
        <p:sp>
          <p:nvSpPr>
            <p:cNvPr id="6" name="Shape 4"/>
            <p:cNvSpPr/>
            <p:nvPr/>
          </p:nvSpPr>
          <p:spPr>
            <a:xfrm>
              <a:off x="1102995" y="559240"/>
              <a:ext cx="41910" cy="81671"/>
            </a:xfrm>
            <a:prstGeom prst="ellipse">
              <a:avLst/>
            </a:prstGeom>
            <a:solidFill>
              <a:srgbClr val="90ABCE"/>
            </a:solidFill>
            <a:ln/>
          </p:spPr>
        </p:sp>
        <p:sp>
          <p:nvSpPr>
            <p:cNvPr id="7" name="Shape 5"/>
            <p:cNvSpPr/>
            <p:nvPr/>
          </p:nvSpPr>
          <p:spPr>
            <a:xfrm>
              <a:off x="1369695" y="559240"/>
              <a:ext cx="41910" cy="81671"/>
            </a:xfrm>
            <a:prstGeom prst="ellipse">
              <a:avLst/>
            </a:prstGeom>
            <a:solidFill>
              <a:srgbClr val="90ABCE"/>
            </a:solidFill>
            <a:ln/>
          </p:spPr>
        </p:sp>
        <p:sp>
          <p:nvSpPr>
            <p:cNvPr id="8" name="Shape 6"/>
            <p:cNvSpPr/>
            <p:nvPr/>
          </p:nvSpPr>
          <p:spPr>
            <a:xfrm>
              <a:off x="1636395" y="559240"/>
              <a:ext cx="41910" cy="81671"/>
            </a:xfrm>
            <a:prstGeom prst="ellipse">
              <a:avLst/>
            </a:prstGeom>
            <a:solidFill>
              <a:srgbClr val="90ABCE"/>
            </a:solidFill>
            <a:ln/>
          </p:spPr>
        </p:sp>
        <p:sp>
          <p:nvSpPr>
            <p:cNvPr id="9" name="Shape 7"/>
            <p:cNvSpPr/>
            <p:nvPr/>
          </p:nvSpPr>
          <p:spPr>
            <a:xfrm>
              <a:off x="1903095" y="559240"/>
              <a:ext cx="41910" cy="81671"/>
            </a:xfrm>
            <a:prstGeom prst="ellipse">
              <a:avLst/>
            </a:prstGeom>
            <a:solidFill>
              <a:srgbClr val="90ABCE"/>
            </a:solidFill>
            <a:ln/>
          </p:spPr>
        </p:sp>
        <p:sp>
          <p:nvSpPr>
            <p:cNvPr id="10" name="Shape 8"/>
            <p:cNvSpPr/>
            <p:nvPr/>
          </p:nvSpPr>
          <p:spPr>
            <a:xfrm>
              <a:off x="569595" y="825940"/>
              <a:ext cx="41910" cy="81671"/>
            </a:xfrm>
            <a:prstGeom prst="ellipse">
              <a:avLst/>
            </a:prstGeom>
            <a:solidFill>
              <a:srgbClr val="90ABCE"/>
            </a:solidFill>
            <a:ln/>
          </p:spPr>
        </p:sp>
        <p:sp>
          <p:nvSpPr>
            <p:cNvPr id="11" name="Shape 9"/>
            <p:cNvSpPr/>
            <p:nvPr/>
          </p:nvSpPr>
          <p:spPr>
            <a:xfrm>
              <a:off x="836295" y="825940"/>
              <a:ext cx="41910" cy="81671"/>
            </a:xfrm>
            <a:prstGeom prst="ellipse">
              <a:avLst/>
            </a:prstGeom>
            <a:solidFill>
              <a:srgbClr val="90ABCE"/>
            </a:solidFill>
            <a:ln/>
          </p:spPr>
        </p:sp>
        <p:sp>
          <p:nvSpPr>
            <p:cNvPr id="12" name="Shape 10"/>
            <p:cNvSpPr/>
            <p:nvPr/>
          </p:nvSpPr>
          <p:spPr>
            <a:xfrm>
              <a:off x="1102995" y="825940"/>
              <a:ext cx="41910" cy="81671"/>
            </a:xfrm>
            <a:prstGeom prst="ellipse">
              <a:avLst/>
            </a:prstGeom>
            <a:solidFill>
              <a:srgbClr val="90ABCE"/>
            </a:solidFill>
            <a:ln/>
          </p:spPr>
        </p:sp>
        <p:sp>
          <p:nvSpPr>
            <p:cNvPr id="13" name="Shape 11"/>
            <p:cNvSpPr/>
            <p:nvPr/>
          </p:nvSpPr>
          <p:spPr>
            <a:xfrm>
              <a:off x="1369695" y="825940"/>
              <a:ext cx="41910" cy="81671"/>
            </a:xfrm>
            <a:prstGeom prst="ellipse">
              <a:avLst/>
            </a:prstGeom>
            <a:solidFill>
              <a:srgbClr val="90ABCE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1636395" y="825940"/>
              <a:ext cx="41910" cy="81671"/>
            </a:xfrm>
            <a:prstGeom prst="ellipse">
              <a:avLst/>
            </a:prstGeom>
            <a:solidFill>
              <a:srgbClr val="90ABCE"/>
            </a:solidFill>
            <a:ln/>
          </p:spPr>
        </p:sp>
        <p:sp>
          <p:nvSpPr>
            <p:cNvPr id="15" name="Shape 13"/>
            <p:cNvSpPr/>
            <p:nvPr/>
          </p:nvSpPr>
          <p:spPr>
            <a:xfrm>
              <a:off x="1903095" y="825940"/>
              <a:ext cx="41910" cy="81671"/>
            </a:xfrm>
            <a:prstGeom prst="ellipse">
              <a:avLst/>
            </a:prstGeom>
            <a:solidFill>
              <a:srgbClr val="90ABCE"/>
            </a:solidFill>
            <a:ln/>
          </p:spPr>
        </p:sp>
      </p:grpSp>
      <p:sp>
        <p:nvSpPr>
          <p:cNvPr id="16" name="Shape 14"/>
          <p:cNvSpPr/>
          <p:nvPr/>
        </p:nvSpPr>
        <p:spPr>
          <a:xfrm>
            <a:off x="-428988" y="746751"/>
            <a:ext cx="3581400" cy="3686467"/>
          </a:xfrm>
          <a:prstGeom prst="ellipse">
            <a:avLst/>
          </a:prstGeom>
          <a:solidFill>
            <a:srgbClr val="263049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7" name="Text 15"/>
          <p:cNvSpPr/>
          <p:nvPr/>
        </p:nvSpPr>
        <p:spPr>
          <a:xfrm rot="16200000">
            <a:off x="11525250" y="28575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 SMD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147399" y="1512842"/>
            <a:ext cx="643301" cy="0"/>
          </a:xfrm>
          <a:prstGeom prst="line">
            <a:avLst/>
          </a:prstGeom>
          <a:noFill/>
          <a:ln w="12700">
            <a:solidFill>
              <a:srgbClr val="90AB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703" y="1408067"/>
            <a:ext cx="476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SCIENCE • MARKETING DIGITAL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1306" y="1661151"/>
            <a:ext cx="857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Analyse &amp; Optimisation Marketing</a:t>
            </a:r>
            <a:endParaRPr lang="en-US" sz="4000" dirty="0"/>
          </a:p>
        </p:txBody>
      </p:sp>
      <p:sp>
        <p:nvSpPr>
          <p:cNvPr id="21" name="Shape 19"/>
          <p:cNvSpPr/>
          <p:nvPr/>
        </p:nvSpPr>
        <p:spPr>
          <a:xfrm>
            <a:off x="1030605" y="2990178"/>
            <a:ext cx="914400" cy="0"/>
          </a:xfrm>
          <a:prstGeom prst="line">
            <a:avLst/>
          </a:prstGeom>
          <a:noFill/>
          <a:ln w="12700">
            <a:solidFill>
              <a:srgbClr val="90ABC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3913" y="3108913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7D2E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basée sur la segmentation client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53913" y="3735593"/>
            <a:ext cx="1905000" cy="0"/>
          </a:xfrm>
          <a:prstGeom prst="line">
            <a:avLst/>
          </a:prstGeom>
          <a:noFill/>
          <a:ln w="12700">
            <a:solidFill>
              <a:srgbClr val="435066"/>
            </a:solidFill>
            <a:prstDash val="solid"/>
          </a:ln>
        </p:spPr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8B9584C7-0AEA-4F17-A67E-7D216C16760D}"/>
              </a:ext>
            </a:extLst>
          </p:cNvPr>
          <p:cNvSpPr txBox="1"/>
          <p:nvPr/>
        </p:nvSpPr>
        <p:spPr>
          <a:xfrm>
            <a:off x="952823" y="3830262"/>
            <a:ext cx="6709858" cy="223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fr-FR" sz="1600" b="1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Présenté par le groupe 14 :</a:t>
            </a:r>
            <a:endParaRPr lang="fr-FR" sz="1200" dirty="0">
              <a:solidFill>
                <a:schemeClr val="bg1">
                  <a:lumMod val="85000"/>
                </a:schemeClr>
              </a:solidFill>
              <a:effectLst/>
              <a:latin typeface="Aptos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300"/>
              </a:spcAft>
              <a:buFont typeface="Wingdings" panose="05000000000000000000" pitchFamily="2" charset="2"/>
              <a:buChar char=""/>
              <a:tabLst>
                <a:tab pos="317500" algn="l"/>
              </a:tabLst>
            </a:pPr>
            <a:r>
              <a:rPr lang="en-ZA" sz="1600" b="1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FANOMEZANTSOA </a:t>
            </a:r>
            <a:r>
              <a:rPr lang="en-ZA" sz="1600" b="1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Rantoniaina</a:t>
            </a:r>
            <a:r>
              <a:rPr lang="en-ZA" sz="1600" b="1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ZA" sz="1600" b="1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Harlivah</a:t>
            </a:r>
            <a:r>
              <a:rPr lang="en-ZA" sz="1600" b="1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– N° 359H-TOL</a:t>
            </a:r>
            <a:endParaRPr lang="fr-FR" sz="1600" dirty="0">
              <a:solidFill>
                <a:schemeClr val="bg1">
                  <a:lumMod val="85000"/>
                </a:schemeClr>
              </a:solidFill>
              <a:effectLst/>
              <a:latin typeface="Aptos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300"/>
              </a:spcAft>
              <a:buFont typeface="Wingdings" panose="05000000000000000000" pitchFamily="2" charset="2"/>
              <a:buChar char=""/>
              <a:tabLst>
                <a:tab pos="317500" algn="l"/>
              </a:tabLst>
            </a:pPr>
            <a:r>
              <a:rPr lang="en-ZA" sz="1600" b="1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RANDRIAMAHATSARA </a:t>
            </a:r>
            <a:r>
              <a:rPr lang="en-ZA" sz="1600" b="1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Henitsoa</a:t>
            </a:r>
            <a:r>
              <a:rPr lang="en-ZA" sz="1600" b="1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Olivier – N° 380H-TOL</a:t>
            </a:r>
            <a:endParaRPr lang="fr-FR" sz="1600" dirty="0">
              <a:solidFill>
                <a:schemeClr val="bg1">
                  <a:lumMod val="85000"/>
                </a:schemeClr>
              </a:solidFill>
              <a:effectLst/>
              <a:latin typeface="Aptos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300"/>
              </a:spcAft>
              <a:buFont typeface="Wingdings" panose="05000000000000000000" pitchFamily="2" charset="2"/>
              <a:buChar char=""/>
              <a:tabLst>
                <a:tab pos="317500" algn="l"/>
              </a:tabLst>
            </a:pPr>
            <a:r>
              <a:rPr lang="en-ZA" sz="1600" b="1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LAKORIJA Mario </a:t>
            </a:r>
            <a:r>
              <a:rPr lang="en-ZA" sz="1600" b="1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Gracia</a:t>
            </a:r>
            <a:r>
              <a:rPr lang="en-ZA" sz="1600" b="1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– N° 438H-TOL</a:t>
            </a:r>
            <a:endParaRPr lang="fr-FR" sz="1600" dirty="0">
              <a:solidFill>
                <a:schemeClr val="bg1">
                  <a:lumMod val="85000"/>
                </a:schemeClr>
              </a:solidFill>
              <a:effectLst/>
              <a:latin typeface="Aptos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300"/>
              </a:spcAft>
              <a:buFont typeface="Wingdings" panose="05000000000000000000" pitchFamily="2" charset="2"/>
              <a:buChar char=""/>
              <a:tabLst>
                <a:tab pos="317500" algn="l"/>
              </a:tabLst>
            </a:pPr>
            <a:r>
              <a:rPr lang="en-ZA" sz="1600" b="1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NAMBININJANAHARY </a:t>
            </a:r>
            <a:r>
              <a:rPr lang="en-ZA" sz="1600" b="1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Safidy</a:t>
            </a:r>
            <a:r>
              <a:rPr lang="en-ZA" sz="1600" b="1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ZA" sz="1600" b="1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Sylvana</a:t>
            </a:r>
            <a:r>
              <a:rPr lang="en-ZA" sz="1600" b="1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– N° 452H-TOL</a:t>
            </a:r>
            <a:endParaRPr lang="fr-FR" sz="1600" dirty="0">
              <a:solidFill>
                <a:schemeClr val="bg1">
                  <a:lumMod val="85000"/>
                </a:schemeClr>
              </a:solidFill>
              <a:effectLst/>
              <a:latin typeface="Aptos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300"/>
              </a:spcAft>
              <a:buFont typeface="Wingdings" panose="05000000000000000000" pitchFamily="2" charset="2"/>
              <a:buChar char=""/>
              <a:tabLst>
                <a:tab pos="317500" algn="l"/>
              </a:tabLst>
            </a:pPr>
            <a:r>
              <a:rPr lang="fr-FR" sz="1600" b="1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RASOAVELONANTENAINA </a:t>
            </a:r>
            <a:r>
              <a:rPr lang="fr-FR" sz="1600" b="1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Sitraka</a:t>
            </a:r>
            <a:r>
              <a:rPr lang="fr-FR" sz="1600" b="1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Marius – N° 474H-TOL</a:t>
            </a:r>
            <a:endParaRPr lang="fr-FR" sz="1600" dirty="0">
              <a:solidFill>
                <a:schemeClr val="bg1">
                  <a:lumMod val="85000"/>
                </a:schemeClr>
              </a:solidFill>
              <a:effectLst/>
              <a:latin typeface="Aptos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300"/>
              </a:spcAft>
              <a:buFont typeface="Wingdings" panose="05000000000000000000" pitchFamily="2" charset="2"/>
              <a:buChar char=""/>
              <a:tabLst>
                <a:tab pos="317500" algn="l"/>
              </a:tabLst>
            </a:pPr>
            <a:r>
              <a:rPr lang="fr-FR" sz="1600" b="1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NALAHANDRAZA </a:t>
            </a:r>
            <a:r>
              <a:rPr lang="fr-FR" sz="1600" b="1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Dinah</a:t>
            </a:r>
            <a:r>
              <a:rPr lang="fr-FR" sz="1600" b="1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– N° 4561</a:t>
            </a:r>
            <a:endParaRPr lang="fr-FR" sz="1600" dirty="0">
              <a:solidFill>
                <a:schemeClr val="bg1">
                  <a:lumMod val="85000"/>
                </a:schemeClr>
              </a:solidFill>
              <a:effectLst/>
              <a:latin typeface="Aptos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9595" y="579120"/>
            <a:ext cx="41910" cy="41910"/>
          </a:xfrm>
          <a:prstGeom prst="ellipse">
            <a:avLst/>
          </a:prstGeom>
          <a:solidFill>
            <a:srgbClr val="90ABCE"/>
          </a:solidFill>
          <a:ln/>
        </p:spPr>
      </p:sp>
      <p:sp>
        <p:nvSpPr>
          <p:cNvPr id="3" name="Shape 1"/>
          <p:cNvSpPr/>
          <p:nvPr/>
        </p:nvSpPr>
        <p:spPr>
          <a:xfrm>
            <a:off x="836295" y="579120"/>
            <a:ext cx="41910" cy="41910"/>
          </a:xfrm>
          <a:prstGeom prst="ellipse">
            <a:avLst/>
          </a:prstGeom>
          <a:solidFill>
            <a:srgbClr val="90ABCE"/>
          </a:solidFill>
          <a:ln/>
        </p:spPr>
      </p:sp>
      <p:sp>
        <p:nvSpPr>
          <p:cNvPr id="4" name="Shape 2"/>
          <p:cNvSpPr/>
          <p:nvPr/>
        </p:nvSpPr>
        <p:spPr>
          <a:xfrm>
            <a:off x="1102995" y="579120"/>
            <a:ext cx="41910" cy="41910"/>
          </a:xfrm>
          <a:prstGeom prst="ellipse">
            <a:avLst/>
          </a:prstGeom>
          <a:solidFill>
            <a:srgbClr val="90ABCE"/>
          </a:solidFill>
          <a:ln/>
        </p:spPr>
      </p:sp>
      <p:sp>
        <p:nvSpPr>
          <p:cNvPr id="5" name="Shape 3"/>
          <p:cNvSpPr/>
          <p:nvPr/>
        </p:nvSpPr>
        <p:spPr>
          <a:xfrm>
            <a:off x="1369695" y="579120"/>
            <a:ext cx="41910" cy="41910"/>
          </a:xfrm>
          <a:prstGeom prst="ellipse">
            <a:avLst/>
          </a:prstGeom>
          <a:solidFill>
            <a:srgbClr val="90ABCE"/>
          </a:solidFill>
          <a:ln/>
        </p:spPr>
      </p:sp>
      <p:sp>
        <p:nvSpPr>
          <p:cNvPr id="6" name="Shape 4"/>
          <p:cNvSpPr/>
          <p:nvPr/>
        </p:nvSpPr>
        <p:spPr>
          <a:xfrm>
            <a:off x="1636395" y="579120"/>
            <a:ext cx="41910" cy="41910"/>
          </a:xfrm>
          <a:prstGeom prst="ellipse">
            <a:avLst/>
          </a:prstGeom>
          <a:solidFill>
            <a:srgbClr val="90ABCE"/>
          </a:solidFill>
          <a:ln/>
        </p:spPr>
      </p:sp>
      <p:sp>
        <p:nvSpPr>
          <p:cNvPr id="7" name="Shape 5"/>
          <p:cNvSpPr/>
          <p:nvPr/>
        </p:nvSpPr>
        <p:spPr>
          <a:xfrm>
            <a:off x="1903095" y="579120"/>
            <a:ext cx="41910" cy="41910"/>
          </a:xfrm>
          <a:prstGeom prst="ellipse">
            <a:avLst/>
          </a:prstGeom>
          <a:solidFill>
            <a:srgbClr val="90ABCE"/>
          </a:solidFill>
          <a:ln/>
        </p:spPr>
      </p:sp>
      <p:sp>
        <p:nvSpPr>
          <p:cNvPr id="8" name="Shape 6"/>
          <p:cNvSpPr/>
          <p:nvPr/>
        </p:nvSpPr>
        <p:spPr>
          <a:xfrm>
            <a:off x="2169795" y="579120"/>
            <a:ext cx="41910" cy="41910"/>
          </a:xfrm>
          <a:prstGeom prst="ellipse">
            <a:avLst/>
          </a:prstGeom>
          <a:solidFill>
            <a:srgbClr val="90ABCE"/>
          </a:solidFill>
          <a:ln/>
        </p:spPr>
      </p:sp>
      <p:sp>
        <p:nvSpPr>
          <p:cNvPr id="9" name="Shape 7"/>
          <p:cNvSpPr/>
          <p:nvPr/>
        </p:nvSpPr>
        <p:spPr>
          <a:xfrm>
            <a:off x="2436495" y="579120"/>
            <a:ext cx="41910" cy="41910"/>
          </a:xfrm>
          <a:prstGeom prst="ellipse">
            <a:avLst/>
          </a:prstGeom>
          <a:solidFill>
            <a:srgbClr val="90ABCE"/>
          </a:solidFill>
          <a:ln/>
        </p:spPr>
      </p:sp>
      <p:sp>
        <p:nvSpPr>
          <p:cNvPr id="10" name="Shape 8"/>
          <p:cNvSpPr/>
          <p:nvPr/>
        </p:nvSpPr>
        <p:spPr>
          <a:xfrm>
            <a:off x="569595" y="845820"/>
            <a:ext cx="41910" cy="41910"/>
          </a:xfrm>
          <a:prstGeom prst="ellipse">
            <a:avLst/>
          </a:prstGeom>
          <a:solidFill>
            <a:srgbClr val="90ABCE"/>
          </a:solidFill>
          <a:ln/>
        </p:spPr>
      </p:sp>
      <p:sp>
        <p:nvSpPr>
          <p:cNvPr id="11" name="Shape 9"/>
          <p:cNvSpPr/>
          <p:nvPr/>
        </p:nvSpPr>
        <p:spPr>
          <a:xfrm>
            <a:off x="836295" y="845820"/>
            <a:ext cx="41910" cy="41910"/>
          </a:xfrm>
          <a:prstGeom prst="ellipse">
            <a:avLst/>
          </a:prstGeom>
          <a:solidFill>
            <a:srgbClr val="90ABCE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2995" y="845820"/>
            <a:ext cx="41910" cy="41910"/>
          </a:xfrm>
          <a:prstGeom prst="ellipse">
            <a:avLst/>
          </a:prstGeom>
          <a:solidFill>
            <a:srgbClr val="90ABCE"/>
          </a:solidFill>
          <a:ln/>
        </p:spPr>
      </p:sp>
      <p:sp>
        <p:nvSpPr>
          <p:cNvPr id="13" name="Shape 11"/>
          <p:cNvSpPr/>
          <p:nvPr/>
        </p:nvSpPr>
        <p:spPr>
          <a:xfrm>
            <a:off x="1369695" y="845820"/>
            <a:ext cx="41910" cy="41910"/>
          </a:xfrm>
          <a:prstGeom prst="ellipse">
            <a:avLst/>
          </a:prstGeom>
          <a:solidFill>
            <a:srgbClr val="90ABCE"/>
          </a:solidFill>
          <a:ln/>
        </p:spPr>
      </p:sp>
      <p:sp>
        <p:nvSpPr>
          <p:cNvPr id="14" name="Shape 12"/>
          <p:cNvSpPr/>
          <p:nvPr/>
        </p:nvSpPr>
        <p:spPr>
          <a:xfrm>
            <a:off x="1636395" y="845820"/>
            <a:ext cx="41910" cy="41910"/>
          </a:xfrm>
          <a:prstGeom prst="ellipse">
            <a:avLst/>
          </a:prstGeom>
          <a:solidFill>
            <a:srgbClr val="90ABCE"/>
          </a:solidFill>
          <a:ln/>
        </p:spPr>
      </p:sp>
      <p:sp>
        <p:nvSpPr>
          <p:cNvPr id="15" name="Shape 13"/>
          <p:cNvSpPr/>
          <p:nvPr/>
        </p:nvSpPr>
        <p:spPr>
          <a:xfrm>
            <a:off x="1903095" y="845820"/>
            <a:ext cx="41910" cy="41910"/>
          </a:xfrm>
          <a:prstGeom prst="ellipse">
            <a:avLst/>
          </a:prstGeom>
          <a:solidFill>
            <a:srgbClr val="90ABCE"/>
          </a:solidFill>
          <a:ln/>
        </p:spPr>
      </p:sp>
      <p:sp>
        <p:nvSpPr>
          <p:cNvPr id="16" name="Shape 14"/>
          <p:cNvSpPr/>
          <p:nvPr/>
        </p:nvSpPr>
        <p:spPr>
          <a:xfrm>
            <a:off x="2169795" y="845820"/>
            <a:ext cx="41910" cy="41910"/>
          </a:xfrm>
          <a:prstGeom prst="ellipse">
            <a:avLst/>
          </a:prstGeom>
          <a:solidFill>
            <a:srgbClr val="90ABCE"/>
          </a:solidFill>
          <a:ln/>
        </p:spPr>
      </p:sp>
      <p:sp>
        <p:nvSpPr>
          <p:cNvPr id="17" name="Shape 15"/>
          <p:cNvSpPr/>
          <p:nvPr/>
        </p:nvSpPr>
        <p:spPr>
          <a:xfrm>
            <a:off x="2436495" y="845820"/>
            <a:ext cx="41910" cy="41910"/>
          </a:xfrm>
          <a:prstGeom prst="ellipse">
            <a:avLst/>
          </a:prstGeom>
          <a:solidFill>
            <a:srgbClr val="90ABCE"/>
          </a:solidFill>
          <a:ln/>
        </p:spPr>
      </p:sp>
      <p:sp>
        <p:nvSpPr>
          <p:cNvPr id="18" name="Shape 16"/>
          <p:cNvSpPr/>
          <p:nvPr/>
        </p:nvSpPr>
        <p:spPr>
          <a:xfrm>
            <a:off x="7239000" y="0"/>
            <a:ext cx="4953000" cy="1143000"/>
          </a:xfrm>
          <a:custGeom>
            <a:avLst/>
            <a:gdLst/>
            <a:ahLst/>
            <a:cxnLst/>
            <a:rect l="l" t="t" r="r" b="b"/>
            <a:pathLst>
              <a:path w="4953000" h="1143000">
                <a:moveTo>
                  <a:pt x="0" y="0"/>
                </a:moveTo>
                <a:lnTo>
                  <a:pt x="4953000" y="0"/>
                </a:lnTo>
                <a:lnTo>
                  <a:pt x="4953000" y="1143000"/>
                </a:lnTo>
                <a:close/>
              </a:path>
            </a:pathLst>
          </a:custGeom>
          <a:solidFill>
            <a:srgbClr val="90ABCE"/>
          </a:solidFill>
          <a:ln/>
        </p:spPr>
      </p:sp>
      <p:sp>
        <p:nvSpPr>
          <p:cNvPr id="19" name="Text 17"/>
          <p:cNvSpPr/>
          <p:nvPr/>
        </p:nvSpPr>
        <p:spPr>
          <a:xfrm>
            <a:off x="762000" y="1085850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314450" y="1200150"/>
            <a:ext cx="428625" cy="0"/>
          </a:xfrm>
          <a:prstGeom prst="line">
            <a:avLst/>
          </a:prstGeom>
          <a:noFill/>
          <a:ln w="12700">
            <a:solidFill>
              <a:srgbClr val="90AB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108585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CHAPITRE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62000" y="1409700"/>
            <a:ext cx="10001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Contexte et problématique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762000" y="2209800"/>
            <a:ext cx="10001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Objectif : passer des données à la décision.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3143250"/>
            <a:ext cx="5143500" cy="283845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0600" y="3371850"/>
            <a:ext cx="4686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DONNÉES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90600" y="3619500"/>
            <a:ext cx="4686300" cy="220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données clients, produits, ventes et campagnes permettent de mieux comprendre les comportements.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86500" y="3143250"/>
            <a:ext cx="5143500" cy="283845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28" name="Text 26"/>
          <p:cNvSpPr/>
          <p:nvPr/>
        </p:nvSpPr>
        <p:spPr>
          <a:xfrm>
            <a:off x="6515100" y="3371850"/>
            <a:ext cx="4686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PROJET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15100" y="3619500"/>
            <a:ext cx="4686300" cy="220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projet transforme ces données en informations utiles au ciblage marketing.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0477500" y="3143250"/>
            <a:ext cx="952500" cy="714375"/>
          </a:xfrm>
          <a:custGeom>
            <a:avLst/>
            <a:gdLst/>
            <a:ahLst/>
            <a:cxnLst/>
            <a:rect l="l" t="t" r="r" b="b"/>
            <a:pathLst>
              <a:path w="952500" h="714375">
                <a:moveTo>
                  <a:pt x="0" y="0"/>
                </a:moveTo>
                <a:lnTo>
                  <a:pt x="952500" y="0"/>
                </a:lnTo>
                <a:lnTo>
                  <a:pt x="952500" y="714375"/>
                </a:lnTo>
                <a:close/>
              </a:path>
            </a:pathLst>
          </a:custGeom>
          <a:solidFill>
            <a:srgbClr val="5E7396"/>
          </a:solidFill>
          <a:ln/>
        </p:spPr>
      </p:sp>
      <p:sp>
        <p:nvSpPr>
          <p:cNvPr id="31" name="Shape 29"/>
          <p:cNvSpPr/>
          <p:nvPr/>
        </p:nvSpPr>
        <p:spPr>
          <a:xfrm>
            <a:off x="762000" y="6229350"/>
            <a:ext cx="38100" cy="285750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32" name="Text 30"/>
          <p:cNvSpPr/>
          <p:nvPr/>
        </p:nvSpPr>
        <p:spPr>
          <a:xfrm>
            <a:off x="952500" y="6210300"/>
            <a:ext cx="9810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Problématique — </a:t>
            </a:r>
            <a:r>
              <a:rPr lang="en-US" sz="130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comment segmenter les clients, évaluer les campagnes et personnaliser la stratégie 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5500" cy="3810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3" name="Shape 1"/>
          <p:cNvSpPr/>
          <p:nvPr/>
        </p:nvSpPr>
        <p:spPr>
          <a:xfrm>
            <a:off x="2095500" y="0"/>
            <a:ext cx="762000" cy="38100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666750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14450" y="781050"/>
            <a:ext cx="428625" cy="0"/>
          </a:xfrm>
          <a:prstGeom prst="line">
            <a:avLst/>
          </a:prstGeom>
          <a:noFill/>
          <a:ln w="12700">
            <a:solidFill>
              <a:srgbClr val="90AB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66675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CHAPITRE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2000" y="933450"/>
            <a:ext cx="857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Objectifs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762000" y="2057400"/>
            <a:ext cx="2667000" cy="1666875"/>
          </a:xfrm>
          <a:prstGeom prst="rect">
            <a:avLst/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2057400"/>
            <a:ext cx="38100" cy="1666875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10" name="Text 8"/>
          <p:cNvSpPr/>
          <p:nvPr/>
        </p:nvSpPr>
        <p:spPr>
          <a:xfrm>
            <a:off x="990600" y="222885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90600" y="2457450"/>
            <a:ext cx="22479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Explorer et préparer les données.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619500" y="2057400"/>
            <a:ext cx="2667000" cy="1666875"/>
          </a:xfrm>
          <a:prstGeom prst="rect">
            <a:avLst/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9500" y="2057400"/>
            <a:ext cx="38100" cy="1666875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14" name="Text 12"/>
          <p:cNvSpPr/>
          <p:nvPr/>
        </p:nvSpPr>
        <p:spPr>
          <a:xfrm>
            <a:off x="3848100" y="222885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8100" y="2457450"/>
            <a:ext cx="22479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Construire des variables de comportement client.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77000" y="2057400"/>
            <a:ext cx="2667000" cy="1666875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17" name="Shape 15"/>
          <p:cNvSpPr/>
          <p:nvPr/>
        </p:nvSpPr>
        <p:spPr>
          <a:xfrm>
            <a:off x="6477000" y="2057400"/>
            <a:ext cx="38100" cy="1666875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18" name="Text 16"/>
          <p:cNvSpPr/>
          <p:nvPr/>
        </p:nvSpPr>
        <p:spPr>
          <a:xfrm>
            <a:off x="6705600" y="222885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05600" y="2457450"/>
            <a:ext cx="22479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Segmenter les clients avec K-Means et visualiser avec PCA.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334500" y="2057400"/>
            <a:ext cx="2667000" cy="1666875"/>
          </a:xfrm>
          <a:prstGeom prst="rect">
            <a:avLst/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34500" y="2057400"/>
            <a:ext cx="38100" cy="1666875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22" name="Text 20"/>
          <p:cNvSpPr/>
          <p:nvPr/>
        </p:nvSpPr>
        <p:spPr>
          <a:xfrm>
            <a:off x="9563100" y="222885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563100" y="2457450"/>
            <a:ext cx="22479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Analyser les campagnes avec des KPI.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62000" y="3914775"/>
            <a:ext cx="2667000" cy="1666875"/>
          </a:xfrm>
          <a:prstGeom prst="rect">
            <a:avLst/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2000" y="3914775"/>
            <a:ext cx="38100" cy="1666875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26" name="Text 24"/>
          <p:cNvSpPr/>
          <p:nvPr/>
        </p:nvSpPr>
        <p:spPr>
          <a:xfrm>
            <a:off x="990600" y="4086225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90600" y="4314825"/>
            <a:ext cx="22479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Proposer des actions marketing personnalisées.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3619500" y="3914775"/>
            <a:ext cx="2667000" cy="1666875"/>
          </a:xfrm>
          <a:prstGeom prst="rect">
            <a:avLst/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19500" y="3914775"/>
            <a:ext cx="38100" cy="1666875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30" name="Text 28"/>
          <p:cNvSpPr/>
          <p:nvPr/>
        </p:nvSpPr>
        <p:spPr>
          <a:xfrm>
            <a:off x="3848100" y="4086225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48100" y="4314825"/>
            <a:ext cx="22479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Développer un dashboard Streamlit.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477000" y="3914775"/>
            <a:ext cx="2667000" cy="1666875"/>
          </a:xfrm>
          <a:prstGeom prst="rect">
            <a:avLst/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77000" y="3914775"/>
            <a:ext cx="38100" cy="1666875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34" name="Text 32"/>
          <p:cNvSpPr/>
          <p:nvPr/>
        </p:nvSpPr>
        <p:spPr>
          <a:xfrm>
            <a:off x="6705600" y="4086225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05600" y="4314825"/>
            <a:ext cx="22479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Évaluer la faisabilité d'un modèle prédictif.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11525250" y="6191250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0" y="0"/>
                </a:moveTo>
                <a:lnTo>
                  <a:pt x="666750" y="0"/>
                </a:lnTo>
                <a:lnTo>
                  <a:pt x="666750" y="666750"/>
                </a:lnTo>
                <a:close/>
              </a:path>
            </a:pathLst>
          </a:custGeom>
          <a:solidFill>
            <a:srgbClr val="2B3856"/>
          </a:solidFill>
          <a:ln/>
        </p:spPr>
      </p:sp>
      <p:sp>
        <p:nvSpPr>
          <p:cNvPr id="37" name="Shape 35"/>
          <p:cNvSpPr/>
          <p:nvPr/>
        </p:nvSpPr>
        <p:spPr>
          <a:xfrm>
            <a:off x="762000" y="6019800"/>
            <a:ext cx="762000" cy="0"/>
          </a:xfrm>
          <a:prstGeom prst="line">
            <a:avLst/>
          </a:prstGeom>
          <a:noFill/>
          <a:ln w="15875">
            <a:solidFill>
              <a:srgbClr val="202A4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2000" y="6115050"/>
            <a:ext cx="952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SEPT OBJECTIFS — UN SEUL LIVRABLE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5500" cy="3810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3" name="Shape 1"/>
          <p:cNvSpPr/>
          <p:nvPr/>
        </p:nvSpPr>
        <p:spPr>
          <a:xfrm>
            <a:off x="2095500" y="0"/>
            <a:ext cx="762000" cy="38100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666750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14450" y="781050"/>
            <a:ext cx="428625" cy="0"/>
          </a:xfrm>
          <a:prstGeom prst="line">
            <a:avLst/>
          </a:prstGeom>
          <a:noFill/>
          <a:ln w="12700">
            <a:solidFill>
              <a:srgbClr val="90AB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66675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CHAPITRE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2000" y="933450"/>
            <a:ext cx="857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Données utilisées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62000" y="1771650"/>
            <a:ext cx="10001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données brutes sont stockées dans </a:t>
            </a:r>
            <a:r>
              <a:rPr lang="en-US" sz="1500" b="1" dirty="0">
                <a:solidFill>
                  <a:srgbClr val="202A4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data/raw/</a:t>
            </a:r>
            <a:r>
              <a:rPr lang="en-US" sz="150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62000" y="2286000"/>
            <a:ext cx="51435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2000" y="2286000"/>
            <a:ext cx="1143000" cy="152400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2419350"/>
            <a:ext cx="1143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62000" y="2971800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DATASET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62000" y="3143250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BC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.csv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95500" y="2476500"/>
            <a:ext cx="361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A4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customers_data.csv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95500" y="2743200"/>
            <a:ext cx="361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Informations clients et dépenses.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96000" y="2286000"/>
            <a:ext cx="51435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96000" y="2286000"/>
            <a:ext cx="1143000" cy="152400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18" name="Text 16"/>
          <p:cNvSpPr/>
          <p:nvPr/>
        </p:nvSpPr>
        <p:spPr>
          <a:xfrm>
            <a:off x="6096000" y="2419350"/>
            <a:ext cx="1143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096000" y="2971800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DATASET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096000" y="3143250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BC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.csv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29500" y="2476500"/>
            <a:ext cx="361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A4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sales_data.csv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29500" y="2743200"/>
            <a:ext cx="361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Transactions, quantités, prix et canaux.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62000" y="4000500"/>
            <a:ext cx="51435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2000" y="4000500"/>
            <a:ext cx="1143000" cy="152400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25" name="Text 23"/>
          <p:cNvSpPr/>
          <p:nvPr/>
        </p:nvSpPr>
        <p:spPr>
          <a:xfrm>
            <a:off x="762000" y="4133850"/>
            <a:ext cx="1143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62000" y="4686300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DATASET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62000" y="4857750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BC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.csv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095500" y="4191000"/>
            <a:ext cx="361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A4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products_data.csv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095500" y="4457700"/>
            <a:ext cx="361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Produits, catégories, prix et marques.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096000" y="4000500"/>
            <a:ext cx="5143500" cy="152400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31" name="Shape 29"/>
          <p:cNvSpPr/>
          <p:nvPr/>
        </p:nvSpPr>
        <p:spPr>
          <a:xfrm>
            <a:off x="6096000" y="4000500"/>
            <a:ext cx="1143000" cy="1524000"/>
          </a:xfrm>
          <a:prstGeom prst="rect">
            <a:avLst/>
          </a:prstGeom>
          <a:solidFill>
            <a:srgbClr val="2B3856"/>
          </a:solidFill>
          <a:ln/>
        </p:spPr>
      </p:sp>
      <p:sp>
        <p:nvSpPr>
          <p:cNvPr id="32" name="Text 30"/>
          <p:cNvSpPr/>
          <p:nvPr/>
        </p:nvSpPr>
        <p:spPr>
          <a:xfrm>
            <a:off x="6096000" y="4133850"/>
            <a:ext cx="1143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096000" y="4686300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DATASET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096000" y="4857750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BC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.csv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429500" y="4191000"/>
            <a:ext cx="361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marketing_data.csv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429500" y="4457700"/>
            <a:ext cx="361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7ECF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Campagnes, budgets, impressions, clics et conversions.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762000" y="5886450"/>
            <a:ext cx="10668000" cy="533400"/>
          </a:xfrm>
          <a:prstGeom prst="rect">
            <a:avLst/>
          </a:prstGeom>
          <a:solidFill>
            <a:srgbClr val="EEF1F6"/>
          </a:solidFill>
          <a:ln w="12700">
            <a:solidFill>
              <a:srgbClr val="90ABCE"/>
            </a:solidFill>
            <a:prstDash val="dash"/>
          </a:ln>
        </p:spPr>
        <p:txBody>
          <a:bodyPr/>
          <a:lstStyle/>
          <a:p>
            <a:endParaRPr lang="fr-FR" dirty="0"/>
          </a:p>
        </p:txBody>
      </p:sp>
      <p:sp>
        <p:nvSpPr>
          <p:cNvPr id="38" name="Text 36"/>
          <p:cNvSpPr/>
          <p:nvPr/>
        </p:nvSpPr>
        <p:spPr>
          <a:xfrm>
            <a:off x="762000" y="5886450"/>
            <a:ext cx="10668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5500" cy="3810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3" name="Shape 1"/>
          <p:cNvSpPr/>
          <p:nvPr/>
        </p:nvSpPr>
        <p:spPr>
          <a:xfrm>
            <a:off x="2095500" y="0"/>
            <a:ext cx="762000" cy="38100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666750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14450" y="781050"/>
            <a:ext cx="428625" cy="0"/>
          </a:xfrm>
          <a:prstGeom prst="line">
            <a:avLst/>
          </a:prstGeom>
          <a:noFill/>
          <a:ln w="12700">
            <a:solidFill>
              <a:srgbClr val="90AB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66675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CHAPITRE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2000" y="933450"/>
            <a:ext cx="857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Technologies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762000" y="2057400"/>
            <a:ext cx="3429000" cy="1809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2057400"/>
            <a:ext cx="3429000" cy="47625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10" name="Text 8"/>
          <p:cNvSpPr/>
          <p:nvPr/>
        </p:nvSpPr>
        <p:spPr>
          <a:xfrm>
            <a:off x="1028700" y="2324100"/>
            <a:ext cx="2895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02A4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Python 3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28700" y="2724150"/>
            <a:ext cx="289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CŒUR DE L'ANALYSE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1500" y="2057400"/>
            <a:ext cx="3429000" cy="180975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13" name="Shape 11"/>
          <p:cNvSpPr/>
          <p:nvPr/>
        </p:nvSpPr>
        <p:spPr>
          <a:xfrm>
            <a:off x="4381500" y="2057400"/>
            <a:ext cx="3429000" cy="47625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14" name="Text 12"/>
          <p:cNvSpPr/>
          <p:nvPr/>
        </p:nvSpPr>
        <p:spPr>
          <a:xfrm>
            <a:off x="4648200" y="2324100"/>
            <a:ext cx="2895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Pandas • NumPy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48200" y="2724150"/>
            <a:ext cx="289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AEC0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MANIPULATION DE DONNÉES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01000" y="2057400"/>
            <a:ext cx="3429000" cy="1809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01000" y="2057400"/>
            <a:ext cx="3429000" cy="47625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18" name="Text 16"/>
          <p:cNvSpPr/>
          <p:nvPr/>
        </p:nvSpPr>
        <p:spPr>
          <a:xfrm>
            <a:off x="8267700" y="2324100"/>
            <a:ext cx="2895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02A4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Scikit-learn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267700" y="2724150"/>
            <a:ext cx="289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STANDARDSCALER · K-MEANS · PCA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62000" y="4057650"/>
            <a:ext cx="3429000" cy="1809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2000" y="4057650"/>
            <a:ext cx="3429000" cy="47625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22" name="Text 20"/>
          <p:cNvSpPr/>
          <p:nvPr/>
        </p:nvSpPr>
        <p:spPr>
          <a:xfrm>
            <a:off x="1028700" y="4324350"/>
            <a:ext cx="2895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02A4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Matplotlib • Seaborn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028700" y="4724400"/>
            <a:ext cx="289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VISUALISATION STATISTIQUE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81500" y="4057650"/>
            <a:ext cx="3429000" cy="1809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1500" y="4057650"/>
            <a:ext cx="3429000" cy="47625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26" name="Text 24"/>
          <p:cNvSpPr/>
          <p:nvPr/>
        </p:nvSpPr>
        <p:spPr>
          <a:xfrm>
            <a:off x="4648200" y="4324350"/>
            <a:ext cx="2895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02A4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Jupyter Notebook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4648200" y="4724400"/>
            <a:ext cx="289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ITÉRATION ET EXPLORATION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01000" y="4057650"/>
            <a:ext cx="3429000" cy="180975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29" name="Shape 27"/>
          <p:cNvSpPr/>
          <p:nvPr/>
        </p:nvSpPr>
        <p:spPr>
          <a:xfrm>
            <a:off x="8001000" y="4057650"/>
            <a:ext cx="3429000" cy="47625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30" name="Text 28"/>
          <p:cNvSpPr/>
          <p:nvPr/>
        </p:nvSpPr>
        <p:spPr>
          <a:xfrm>
            <a:off x="8267700" y="4324350"/>
            <a:ext cx="2895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Streamlit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8267700" y="4724400"/>
            <a:ext cx="289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AEC0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APPLICATION INTERACTIVE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62000" y="6229350"/>
            <a:ext cx="38100" cy="285750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33" name="Text 31"/>
          <p:cNvSpPr/>
          <p:nvPr/>
        </p:nvSpPr>
        <p:spPr>
          <a:xfrm>
            <a:off x="952500" y="6210300"/>
            <a:ext cx="1028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 + GitHub </a:t>
            </a:r>
            <a:r>
              <a:rPr lang="en-US" sz="130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versionnement et collaboration.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5500" cy="3810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3" name="Shape 1"/>
          <p:cNvSpPr/>
          <p:nvPr/>
        </p:nvSpPr>
        <p:spPr>
          <a:xfrm>
            <a:off x="2095500" y="0"/>
            <a:ext cx="762000" cy="38100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666750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14450" y="781050"/>
            <a:ext cx="428625" cy="0"/>
          </a:xfrm>
          <a:prstGeom prst="line">
            <a:avLst/>
          </a:prstGeom>
          <a:noFill/>
          <a:ln w="12700">
            <a:solidFill>
              <a:srgbClr val="90AB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66675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CHAPITRE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2000" y="933450"/>
            <a:ext cx="857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Méthodologie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143000" y="2133600"/>
            <a:ext cx="1000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données</a:t>
            </a:r>
            <a:r>
              <a:rPr lang="en-US" sz="14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→   </a:t>
            </a:r>
            <a:r>
              <a:rPr lang="en-US" sz="14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analyse</a:t>
            </a:r>
            <a:r>
              <a:rPr lang="en-US" sz="14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→   </a:t>
            </a:r>
            <a:r>
              <a:rPr lang="en-US" sz="14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segmentation</a:t>
            </a:r>
            <a:r>
              <a:rPr lang="en-US" sz="14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→   </a:t>
            </a:r>
            <a:r>
              <a:rPr lang="en-US" sz="14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stratégie</a:t>
            </a:r>
            <a:r>
              <a:rPr lang="en-US" sz="14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→   </a:t>
            </a:r>
            <a:r>
              <a:rPr lang="en-US" sz="14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</a:t>
            </a:r>
            <a:endParaRPr lang="en-US" sz="1450" dirty="0"/>
          </a:p>
        </p:txBody>
      </p:sp>
      <p:pic>
        <p:nvPicPr>
          <p:cNvPr id="40" name="Image 39">
            <a:extLst>
              <a:ext uri="{FF2B5EF4-FFF2-40B4-BE49-F238E27FC236}">
                <a16:creationId xmlns:a16="http://schemas.microsoft.com/office/drawing/2014/main" id="{98FC680B-BCA4-4D94-BE3C-F74580766E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1657"/>
          <a:stretch/>
        </p:blipFill>
        <p:spPr>
          <a:xfrm>
            <a:off x="438696" y="1524000"/>
            <a:ext cx="10991304" cy="4329505"/>
          </a:xfrm>
          <a:prstGeom prst="rect">
            <a:avLst/>
          </a:prstGeom>
        </p:spPr>
      </p:pic>
      <p:sp>
        <p:nvSpPr>
          <p:cNvPr id="42" name="ZoneTexte 41">
            <a:extLst>
              <a:ext uri="{FF2B5EF4-FFF2-40B4-BE49-F238E27FC236}">
                <a16:creationId xmlns:a16="http://schemas.microsoft.com/office/drawing/2014/main" id="{9310142F-BBC5-4BCD-B0EC-0E030584CB8A}"/>
              </a:ext>
            </a:extLst>
          </p:cNvPr>
          <p:cNvSpPr txBox="1"/>
          <p:nvPr/>
        </p:nvSpPr>
        <p:spPr>
          <a:xfrm>
            <a:off x="2887245" y="5953909"/>
            <a:ext cx="6094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fr-FR" sz="1800" b="1" dirty="0">
                <a:solidFill>
                  <a:srgbClr val="4F81BD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[ Pipeline méthodologique du projet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5500" cy="3810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3" name="Shape 1"/>
          <p:cNvSpPr/>
          <p:nvPr/>
        </p:nvSpPr>
        <p:spPr>
          <a:xfrm>
            <a:off x="2095500" y="0"/>
            <a:ext cx="762000" cy="38100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666750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14450" y="781050"/>
            <a:ext cx="428625" cy="0"/>
          </a:xfrm>
          <a:prstGeom prst="line">
            <a:avLst/>
          </a:prstGeom>
          <a:noFill/>
          <a:ln w="12700">
            <a:solidFill>
              <a:srgbClr val="90AB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66675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CHAPITRE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2000" y="933450"/>
            <a:ext cx="857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Préparation des données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62000" y="1771650"/>
            <a:ext cx="10001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Préparer des données cohérentes et exploitables.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62000" y="2266950"/>
            <a:ext cx="4095750" cy="360045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10" name="Text 8"/>
          <p:cNvSpPr/>
          <p:nvPr/>
        </p:nvSpPr>
        <p:spPr>
          <a:xfrm>
            <a:off x="990600" y="2495550"/>
            <a:ext cx="3638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FEATURE CLÉ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90600" y="2743200"/>
            <a:ext cx="36385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Création de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Revenue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095750" y="2266950"/>
            <a:ext cx="762000" cy="742950"/>
          </a:xfrm>
          <a:custGeom>
            <a:avLst/>
            <a:gdLst/>
            <a:ahLst/>
            <a:cxnLst/>
            <a:rect l="l" t="t" r="r" b="b"/>
            <a:pathLst>
              <a:path w="762000" h="742950">
                <a:moveTo>
                  <a:pt x="0" y="0"/>
                </a:moveTo>
                <a:lnTo>
                  <a:pt x="762000" y="0"/>
                </a:lnTo>
                <a:lnTo>
                  <a:pt x="762000" y="742950"/>
                </a:lnTo>
                <a:close/>
              </a:path>
            </a:pathLst>
          </a:custGeom>
          <a:solidFill>
            <a:srgbClr val="5E7396"/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" y="3810000"/>
            <a:ext cx="3619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Revenue = Quantity × Sale_Price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90600" y="4381500"/>
            <a:ext cx="1047750" cy="0"/>
          </a:xfrm>
          <a:prstGeom prst="line">
            <a:avLst/>
          </a:prstGeom>
          <a:noFill/>
          <a:ln w="12700">
            <a:solidFill>
              <a:srgbClr val="90AB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0600" y="4667250"/>
            <a:ext cx="3619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AEBBD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Une variable dérivée, source de tous les KPI monétaires.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334000" y="2266950"/>
            <a:ext cx="6096000" cy="752475"/>
          </a:xfrm>
          <a:prstGeom prst="rect">
            <a:avLst/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34000" y="2266950"/>
            <a:ext cx="38100" cy="752475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18" name="Text 16"/>
          <p:cNvSpPr/>
          <p:nvPr/>
        </p:nvSpPr>
        <p:spPr>
          <a:xfrm>
            <a:off x="5524500" y="2266950"/>
            <a:ext cx="2286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67400" y="2266950"/>
            <a:ext cx="53721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Conversion des dates au format </a:t>
            </a:r>
            <a:r>
              <a:rPr lang="en-US" sz="1400" b="1" dirty="0">
                <a:solidFill>
                  <a:srgbClr val="202A4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datetime</a:t>
            </a:r>
            <a:r>
              <a:rPr lang="en-US" sz="1400" b="1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34000" y="3057525"/>
            <a:ext cx="6096000" cy="752475"/>
          </a:xfrm>
          <a:prstGeom prst="rect">
            <a:avLst/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34000" y="3057525"/>
            <a:ext cx="38100" cy="752475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22" name="Text 20"/>
          <p:cNvSpPr/>
          <p:nvPr/>
        </p:nvSpPr>
        <p:spPr>
          <a:xfrm>
            <a:off x="5524500" y="3057525"/>
            <a:ext cx="2286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67400" y="3057525"/>
            <a:ext cx="53721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Vérification des valeurs manquantes et doublons.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334000" y="3848100"/>
            <a:ext cx="6096000" cy="752475"/>
          </a:xfrm>
          <a:prstGeom prst="rect">
            <a:avLst/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34000" y="3848100"/>
            <a:ext cx="38100" cy="752475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26" name="Text 24"/>
          <p:cNvSpPr/>
          <p:nvPr/>
        </p:nvSpPr>
        <p:spPr>
          <a:xfrm>
            <a:off x="5524500" y="3848100"/>
            <a:ext cx="2286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67400" y="3848100"/>
            <a:ext cx="53721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Jointure </a:t>
            </a:r>
            <a:r>
              <a:rPr lang="en-US" sz="1400" b="1" dirty="0">
                <a:solidFill>
                  <a:srgbClr val="202A4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sales</a:t>
            </a:r>
            <a:r>
              <a:rPr lang="en-US" sz="1400" b="1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+ </a:t>
            </a:r>
            <a:r>
              <a:rPr lang="en-US" sz="1400" b="1" dirty="0">
                <a:solidFill>
                  <a:srgbClr val="202A4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customers</a:t>
            </a:r>
            <a:r>
              <a:rPr lang="en-US" sz="1400" b="1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sur </a:t>
            </a:r>
            <a:r>
              <a:rPr lang="en-US" sz="1400" b="1" dirty="0">
                <a:solidFill>
                  <a:srgbClr val="202A4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Customer_ID</a:t>
            </a:r>
            <a:r>
              <a:rPr lang="en-US" sz="1400" b="1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334000" y="4638675"/>
            <a:ext cx="6096000" cy="752475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29" name="Shape 27"/>
          <p:cNvSpPr/>
          <p:nvPr/>
        </p:nvSpPr>
        <p:spPr>
          <a:xfrm>
            <a:off x="5334000" y="4638675"/>
            <a:ext cx="38100" cy="752475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30" name="Text 28"/>
          <p:cNvSpPr/>
          <p:nvPr/>
        </p:nvSpPr>
        <p:spPr>
          <a:xfrm>
            <a:off x="5524500" y="4638675"/>
            <a:ext cx="2286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867400" y="4638675"/>
            <a:ext cx="53721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Jointure avec </a:t>
            </a:r>
            <a:r>
              <a:rPr lang="en-US" sz="1400" b="1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products</a:t>
            </a: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sur </a:t>
            </a:r>
            <a:r>
              <a:rPr lang="en-US" sz="1400" b="1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Product_ID</a:t>
            </a: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62000" y="6019800"/>
            <a:ext cx="10668000" cy="419100"/>
          </a:xfrm>
          <a:prstGeom prst="rect">
            <a:avLst/>
          </a:prstGeom>
          <a:solidFill>
            <a:srgbClr val="F4F3F1"/>
          </a:solidFill>
          <a:ln/>
        </p:spPr>
      </p:sp>
      <p:sp>
        <p:nvSpPr>
          <p:cNvPr id="33" name="Text 31"/>
          <p:cNvSpPr/>
          <p:nvPr/>
        </p:nvSpPr>
        <p:spPr>
          <a:xfrm>
            <a:off x="990600" y="6019800"/>
            <a:ext cx="10210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EXPORT   </a:t>
            </a:r>
            <a:r>
              <a:rPr lang="en-US" sz="125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Export des résultats dans </a:t>
            </a:r>
            <a:r>
              <a:rPr lang="en-US" sz="1250" b="1" dirty="0">
                <a:solidFill>
                  <a:srgbClr val="202A4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data/processed/</a:t>
            </a:r>
            <a:r>
              <a:rPr lang="en-US" sz="125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5500" cy="3810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3" name="Shape 1"/>
          <p:cNvSpPr/>
          <p:nvPr/>
        </p:nvSpPr>
        <p:spPr>
          <a:xfrm>
            <a:off x="2095500" y="0"/>
            <a:ext cx="762000" cy="38100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666750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14450" y="781050"/>
            <a:ext cx="428625" cy="0"/>
          </a:xfrm>
          <a:prstGeom prst="line">
            <a:avLst/>
          </a:prstGeom>
          <a:noFill/>
          <a:ln w="12700">
            <a:solidFill>
              <a:srgbClr val="90AB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66675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CHAPITRE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2000" y="933450"/>
            <a:ext cx="857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Segmentation client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762000" y="1714500"/>
            <a:ext cx="38100" cy="28575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1695450"/>
            <a:ext cx="9810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050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Attention : </a:t>
            </a:r>
            <a:r>
              <a:rPr lang="en-US" sz="130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seulement 5 clients → résultat principalement démonstratif.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2000" y="2286000"/>
            <a:ext cx="400050" cy="40005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2286000"/>
            <a:ext cx="4000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33500" y="228600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VARIABLES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33500" y="2438400"/>
            <a:ext cx="4762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Âge, dépenses totales, nombre d'achats, quantité totale et valeur moyenne.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62000" y="2838450"/>
            <a:ext cx="400050" cy="40005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2838450"/>
            <a:ext cx="4000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33500" y="28384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NORMALISATION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33500" y="2990850"/>
            <a:ext cx="4762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Standardisation avec </a:t>
            </a:r>
            <a:r>
              <a:rPr lang="en-US" sz="1350" dirty="0">
                <a:solidFill>
                  <a:srgbClr val="202A4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StandardScaler</a:t>
            </a:r>
            <a:r>
              <a:rPr lang="en-US" sz="135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62000" y="3390900"/>
            <a:ext cx="400050" cy="40005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19" name="Text 17"/>
          <p:cNvSpPr/>
          <p:nvPr/>
        </p:nvSpPr>
        <p:spPr>
          <a:xfrm>
            <a:off x="762000" y="3390900"/>
            <a:ext cx="4000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33500" y="339090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ALGORITHME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33500" y="3543300"/>
            <a:ext cx="4762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K-Means avec </a:t>
            </a:r>
            <a:r>
              <a:rPr lang="en-US" sz="1350" dirty="0">
                <a:solidFill>
                  <a:srgbClr val="202A4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n_clusters = 2</a:t>
            </a:r>
            <a:r>
              <a:rPr lang="en-US" sz="135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62000" y="3943350"/>
            <a:ext cx="400050" cy="40005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23" name="Text 21"/>
          <p:cNvSpPr/>
          <p:nvPr/>
        </p:nvSpPr>
        <p:spPr>
          <a:xfrm>
            <a:off x="762000" y="3943350"/>
            <a:ext cx="4000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33500" y="3943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333500" y="4095750"/>
            <a:ext cx="4762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PCA pour visualiser les clients en 2 dimensions.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62000" y="4495800"/>
            <a:ext cx="400050" cy="400050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27" name="Text 25"/>
          <p:cNvSpPr/>
          <p:nvPr/>
        </p:nvSpPr>
        <p:spPr>
          <a:xfrm>
            <a:off x="762000" y="4495800"/>
            <a:ext cx="4000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Σ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33500" y="449580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PROFILAGE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333500" y="4648200"/>
            <a:ext cx="4762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Profilage par moyenne des variables.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762000" y="615315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[FIGURE : K-Means + PCA]</a:t>
            </a:r>
            <a:endParaRPr lang="en-US" sz="1150" dirty="0"/>
          </a:p>
        </p:txBody>
      </p:sp>
      <p:pic>
        <p:nvPicPr>
          <p:cNvPr id="51" name="Image 50">
            <a:extLst>
              <a:ext uri="{FF2B5EF4-FFF2-40B4-BE49-F238E27FC236}">
                <a16:creationId xmlns:a16="http://schemas.microsoft.com/office/drawing/2014/main" id="{D7763857-1892-4E79-BCD0-234FBD7AA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286" y="1935956"/>
            <a:ext cx="5597562" cy="34623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5500" cy="3810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3" name="Shape 1"/>
          <p:cNvSpPr/>
          <p:nvPr/>
        </p:nvSpPr>
        <p:spPr>
          <a:xfrm>
            <a:off x="2095500" y="0"/>
            <a:ext cx="762000" cy="38100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666750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14450" y="781050"/>
            <a:ext cx="428625" cy="0"/>
          </a:xfrm>
          <a:prstGeom prst="line">
            <a:avLst/>
          </a:prstGeom>
          <a:noFill/>
          <a:ln w="12700">
            <a:solidFill>
              <a:srgbClr val="90AB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66675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CHAPITRE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2000" y="933450"/>
            <a:ext cx="857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Profils et personas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62000" y="1771650"/>
            <a:ext cx="10001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Segments → profils → actions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62000" y="2286000"/>
            <a:ext cx="5143500" cy="360045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2000" y="2286000"/>
            <a:ext cx="5143500" cy="57150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2381250"/>
            <a:ext cx="190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PERSONA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90600" y="2533650"/>
            <a:ext cx="285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Segment A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238750" y="2324100"/>
            <a:ext cx="571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4C5F8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990600" y="3048000"/>
            <a:ext cx="1047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CARACTÈRE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190750" y="3048000"/>
            <a:ext cx="34861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Dépenses élevées, fréquence forte.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90600" y="3429000"/>
            <a:ext cx="1047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90750" y="3429000"/>
            <a:ext cx="34861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Fidélisation et offres personnalisées.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86500" y="2286000"/>
            <a:ext cx="5143500" cy="360045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19" name="Shape 17"/>
          <p:cNvSpPr/>
          <p:nvPr/>
        </p:nvSpPr>
        <p:spPr>
          <a:xfrm>
            <a:off x="6286500" y="2286000"/>
            <a:ext cx="5143500" cy="571500"/>
          </a:xfrm>
          <a:prstGeom prst="rect">
            <a:avLst/>
          </a:prstGeom>
          <a:solidFill>
            <a:srgbClr val="5E7396"/>
          </a:solidFill>
          <a:ln/>
        </p:spPr>
      </p:sp>
      <p:sp>
        <p:nvSpPr>
          <p:cNvPr id="20" name="Text 18"/>
          <p:cNvSpPr/>
          <p:nvPr/>
        </p:nvSpPr>
        <p:spPr>
          <a:xfrm>
            <a:off x="6515100" y="2381250"/>
            <a:ext cx="190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223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PERSONA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15100" y="2533650"/>
            <a:ext cx="285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Segment B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0763250" y="2324100"/>
            <a:ext cx="571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223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515100" y="3048000"/>
            <a:ext cx="1047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9DB0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CARACTÈRE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715250" y="3048000"/>
            <a:ext cx="34861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Dépenses plus faibles, activité plus ponctuelle.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15100" y="3429000"/>
            <a:ext cx="1047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9DB0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715250" y="3429000"/>
            <a:ext cx="34861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Réactivation et promotions ciblées.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62000" y="6172200"/>
            <a:ext cx="38100" cy="285750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28" name="Text 26"/>
          <p:cNvSpPr/>
          <p:nvPr/>
        </p:nvSpPr>
        <p:spPr>
          <a:xfrm>
            <a:off x="952500" y="61531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Comparer les caractéristiques moyennes — associer une action cohérente à chaque segment.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86500" y="6153150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[TABLEAU : profil moyen des segments]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5500" cy="3810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3" name="Shape 1"/>
          <p:cNvSpPr/>
          <p:nvPr/>
        </p:nvSpPr>
        <p:spPr>
          <a:xfrm>
            <a:off x="2095500" y="0"/>
            <a:ext cx="762000" cy="38100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666750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14450" y="781050"/>
            <a:ext cx="428625" cy="0"/>
          </a:xfrm>
          <a:prstGeom prst="line">
            <a:avLst/>
          </a:prstGeom>
          <a:noFill/>
          <a:ln w="12700">
            <a:solidFill>
              <a:srgbClr val="90AB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66675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CHAPITRE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2000" y="933450"/>
            <a:ext cx="857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KPI des campagnes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62000" y="1771650"/>
            <a:ext cx="10001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ROI financier nécessite un revenu attribué à chaque campagne.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62000" y="2286000"/>
            <a:ext cx="5143500" cy="1266825"/>
          </a:xfrm>
          <a:prstGeom prst="rect">
            <a:avLst/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2000" y="2286000"/>
            <a:ext cx="38100" cy="1266825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2438400"/>
            <a:ext cx="4686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KPI / 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90600" y="2609850"/>
            <a:ext cx="46863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CTR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90600" y="3048000"/>
            <a:ext cx="4686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02A4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CTR = Clicks / Impressions × 100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96000" y="2286000"/>
            <a:ext cx="5143500" cy="1266825"/>
          </a:xfrm>
          <a:prstGeom prst="rect">
            <a:avLst/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96000" y="2286000"/>
            <a:ext cx="38100" cy="1266825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16" name="Text 14"/>
          <p:cNvSpPr/>
          <p:nvPr/>
        </p:nvSpPr>
        <p:spPr>
          <a:xfrm>
            <a:off x="6324600" y="2438400"/>
            <a:ext cx="4686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KPI / 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24600" y="2609850"/>
            <a:ext cx="46863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Conversion Rate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24600" y="3048000"/>
            <a:ext cx="4686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02A4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Conversion Rate = Conversions / Clicks × 100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62000" y="3743325"/>
            <a:ext cx="5143500" cy="1266825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20" name="Shape 18"/>
          <p:cNvSpPr/>
          <p:nvPr/>
        </p:nvSpPr>
        <p:spPr>
          <a:xfrm>
            <a:off x="762000" y="3743325"/>
            <a:ext cx="38100" cy="1266825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" y="3895725"/>
            <a:ext cx="4686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KPI / 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90600" y="4067175"/>
            <a:ext cx="46863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CPC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90600" y="4505325"/>
            <a:ext cx="4686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7D2E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CPC = Budget / Clicks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96000" y="3743325"/>
            <a:ext cx="5143500" cy="1266825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25" name="Shape 23"/>
          <p:cNvSpPr/>
          <p:nvPr/>
        </p:nvSpPr>
        <p:spPr>
          <a:xfrm>
            <a:off x="6096000" y="3743325"/>
            <a:ext cx="38100" cy="1266825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26" name="Text 24"/>
          <p:cNvSpPr/>
          <p:nvPr/>
        </p:nvSpPr>
        <p:spPr>
          <a:xfrm>
            <a:off x="6324600" y="3895725"/>
            <a:ext cx="4686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KPI / 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24600" y="4067175"/>
            <a:ext cx="46863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CPA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324600" y="4505325"/>
            <a:ext cx="4686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7D2E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CPA = Budget / Conversions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62000" y="5505450"/>
            <a:ext cx="10668000" cy="419100"/>
          </a:xfrm>
          <a:prstGeom prst="rect">
            <a:avLst/>
          </a:prstGeom>
          <a:solidFill>
            <a:srgbClr val="F4F3F1"/>
          </a:solidFill>
          <a:ln/>
        </p:spPr>
      </p:sp>
      <p:sp>
        <p:nvSpPr>
          <p:cNvPr id="30" name="Text 28"/>
          <p:cNvSpPr/>
          <p:nvPr/>
        </p:nvSpPr>
        <p:spPr>
          <a:xfrm>
            <a:off x="990600" y="5505450"/>
            <a:ext cx="10210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Ces KPI permettent de comparer l'efficacité opérationnelle.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62000" y="6267450"/>
            <a:ext cx="1066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[TABLEAU : KPI par campagne]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5500" cy="3810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3" name="Shape 1"/>
          <p:cNvSpPr/>
          <p:nvPr/>
        </p:nvSpPr>
        <p:spPr>
          <a:xfrm>
            <a:off x="2095500" y="0"/>
            <a:ext cx="762000" cy="38100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666750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14450" y="781050"/>
            <a:ext cx="428625" cy="0"/>
          </a:xfrm>
          <a:prstGeom prst="line">
            <a:avLst/>
          </a:prstGeom>
          <a:noFill/>
          <a:ln w="12700">
            <a:solidFill>
              <a:srgbClr val="90AB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66675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CHAPITRE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2000" y="933450"/>
            <a:ext cx="857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Résultats marketing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62000" y="1771650"/>
            <a:ext cx="10001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À confirmer avec les sorties finales du notebook 03.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62000" y="2286000"/>
            <a:ext cx="7048500" cy="85725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2000" y="2286000"/>
            <a:ext cx="38100" cy="857250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2419350"/>
            <a:ext cx="2286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Email &amp; TV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0600" y="2686050"/>
            <a:ext cx="2286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A93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CTR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77000" y="2419350"/>
            <a:ext cx="1143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r>
              <a:rPr lang="en-US" sz="140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%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762000" y="3333750"/>
            <a:ext cx="7048500" cy="85725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3333750"/>
            <a:ext cx="38100" cy="85725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990600" y="3467100"/>
            <a:ext cx="2286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In-Store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90600" y="3733800"/>
            <a:ext cx="2286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9DB0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TAUX DE CONVERSION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77000" y="3467100"/>
            <a:ext cx="1143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</a:t>
            </a: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%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762000" y="4381500"/>
            <a:ext cx="7048500" cy="85725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2000" y="4381500"/>
            <a:ext cx="38100" cy="857250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" y="466725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Online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857500" y="45529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A93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CPC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57500" y="4724400"/>
            <a:ext cx="1428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2A4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0,50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4762500" y="4572000"/>
            <a:ext cx="0" cy="476250"/>
          </a:xfrm>
          <a:prstGeom prst="line">
            <a:avLst/>
          </a:prstGeom>
          <a:noFill/>
          <a:ln w="12700">
            <a:solidFill>
              <a:srgbClr val="D3E1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3000" y="45529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A93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CPA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53000" y="4724400"/>
            <a:ext cx="1428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2A4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6,67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8191500" y="2286000"/>
            <a:ext cx="3238500" cy="295275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28" name="Text 26"/>
          <p:cNvSpPr/>
          <p:nvPr/>
        </p:nvSpPr>
        <p:spPr>
          <a:xfrm>
            <a:off x="8420100" y="2514600"/>
            <a:ext cx="2762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À GARDER EN TÊTE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20100" y="2819400"/>
            <a:ext cx="2762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indicateurs doivent être interprétés avec le volume et le contexte.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420100" y="3448050"/>
            <a:ext cx="457200" cy="0"/>
          </a:xfrm>
          <a:prstGeom prst="line">
            <a:avLst/>
          </a:prstGeom>
          <a:noFill/>
          <a:ln w="12700">
            <a:solidFill>
              <a:srgbClr val="5E73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20100" y="3600450"/>
            <a:ext cx="2762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7ECF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ROI financier n'est pas calculable avec les données fournies.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62000" y="5848350"/>
            <a:ext cx="1066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[FIGURE : comparaison des KPI]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62000" y="6019800"/>
            <a:ext cx="762000" cy="0"/>
          </a:xfrm>
          <a:prstGeom prst="line">
            <a:avLst/>
          </a:prstGeom>
          <a:noFill/>
          <a:ln w="15875">
            <a:solidFill>
              <a:srgbClr val="202A4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2000" y="6115050"/>
            <a:ext cx="952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INDICATEURS OPÉRATIONNELS — À INTERPRÉTER AVEC PRUDENCE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5500" cy="3810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3" name="Shape 1"/>
          <p:cNvSpPr/>
          <p:nvPr/>
        </p:nvSpPr>
        <p:spPr>
          <a:xfrm>
            <a:off x="2095500" y="0"/>
            <a:ext cx="762000" cy="38100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666750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14450" y="781050"/>
            <a:ext cx="428625" cy="0"/>
          </a:xfrm>
          <a:prstGeom prst="line">
            <a:avLst/>
          </a:prstGeom>
          <a:noFill/>
          <a:ln w="12700">
            <a:solidFill>
              <a:srgbClr val="90AB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66675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CHAPITRE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2000" y="933450"/>
            <a:ext cx="857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Stratégie marketing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762000" y="1752600"/>
            <a:ext cx="10668000" cy="76200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1752600"/>
            <a:ext cx="1028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 segment</a:t>
            </a:r>
            <a:r>
              <a:rPr lang="en-US" sz="1800" dirty="0">
                <a:solidFill>
                  <a:srgbClr val="8FA3C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+   </a:t>
            </a:r>
            <a:r>
              <a:rPr lang="en-US" sz="1800" b="1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 canal</a:t>
            </a:r>
            <a:r>
              <a:rPr lang="en-US" sz="1800" dirty="0">
                <a:solidFill>
                  <a:srgbClr val="8FA3C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+   </a:t>
            </a:r>
            <a:r>
              <a:rPr lang="en-US" sz="1800" b="1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 contenu</a:t>
            </a:r>
            <a:r>
              <a:rPr lang="en-US" sz="1800" dirty="0">
                <a:solidFill>
                  <a:srgbClr val="8FA3C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+   </a:t>
            </a:r>
            <a:r>
              <a:rPr lang="en-US" sz="1800" b="1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budget mesuré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2000" y="2705100"/>
            <a:ext cx="5143500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000" y="2705100"/>
            <a:ext cx="5143500" cy="47625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12" name="Text 10"/>
          <p:cNvSpPr/>
          <p:nvPr/>
        </p:nvSpPr>
        <p:spPr>
          <a:xfrm>
            <a:off x="990600" y="2914650"/>
            <a:ext cx="4686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 D'ACTION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90600" y="3124200"/>
            <a:ext cx="4686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Clients à forte valeur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90600" y="3505200"/>
            <a:ext cx="46863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Fidélisation et offres personnalisées.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90600" y="3943350"/>
            <a:ext cx="38100" cy="190500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16" name="Text 14"/>
          <p:cNvSpPr/>
          <p:nvPr/>
        </p:nvSpPr>
        <p:spPr>
          <a:xfrm>
            <a:off x="1181100" y="3905250"/>
            <a:ext cx="4495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Prioriser les canaux avec de bons KPI.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90600" y="4343400"/>
            <a:ext cx="38100" cy="190500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18" name="Text 16"/>
          <p:cNvSpPr/>
          <p:nvPr/>
        </p:nvSpPr>
        <p:spPr>
          <a:xfrm>
            <a:off x="1181100" y="4305300"/>
            <a:ext cx="4495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Tester les contenus avant d'augmenter les budgets.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86500" y="2705100"/>
            <a:ext cx="5143500" cy="285750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20" name="Shape 18"/>
          <p:cNvSpPr/>
          <p:nvPr/>
        </p:nvSpPr>
        <p:spPr>
          <a:xfrm>
            <a:off x="6286500" y="2705100"/>
            <a:ext cx="5143500" cy="47625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21" name="Text 19"/>
          <p:cNvSpPr/>
          <p:nvPr/>
        </p:nvSpPr>
        <p:spPr>
          <a:xfrm>
            <a:off x="6515100" y="2914650"/>
            <a:ext cx="4686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 D'ACTION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15100" y="3124200"/>
            <a:ext cx="4686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Clients moins actifs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515100" y="3505200"/>
            <a:ext cx="46863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7ECF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Réactivation et promotions ciblées.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515100" y="3943350"/>
            <a:ext cx="38100" cy="190500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25" name="Text 23"/>
          <p:cNvSpPr/>
          <p:nvPr/>
        </p:nvSpPr>
        <p:spPr>
          <a:xfrm>
            <a:off x="6705600" y="3905250"/>
            <a:ext cx="4495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7ECF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Ajouter les revenus par campagne dans une future collecte.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62000" y="5848350"/>
            <a:ext cx="1066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62000" y="6019800"/>
            <a:ext cx="762000" cy="0"/>
          </a:xfrm>
          <a:prstGeom prst="line">
            <a:avLst/>
          </a:prstGeom>
          <a:noFill/>
          <a:ln w="15875">
            <a:solidFill>
              <a:srgbClr val="202A4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2000" y="6115050"/>
            <a:ext cx="952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62000" y="6362700"/>
            <a:ext cx="952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Segmenter pour adapter la promesse — mesurer pour arbitrer.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5500" cy="3810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3" name="Shape 1"/>
          <p:cNvSpPr/>
          <p:nvPr/>
        </p:nvSpPr>
        <p:spPr>
          <a:xfrm>
            <a:off x="2095500" y="0"/>
            <a:ext cx="762000" cy="38100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666750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14450" y="781050"/>
            <a:ext cx="428625" cy="0"/>
          </a:xfrm>
          <a:prstGeom prst="line">
            <a:avLst/>
          </a:prstGeom>
          <a:noFill/>
          <a:ln w="12700">
            <a:solidFill>
              <a:srgbClr val="90AB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66675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CHAPITRE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2000" y="933450"/>
            <a:ext cx="857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Machine Learning prédictif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62000" y="1771650"/>
            <a:ext cx="10001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Conclusion : limite documentée, sans résultat artificiel.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62000" y="2286000"/>
            <a:ext cx="4095750" cy="360045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10" name="Text 8"/>
          <p:cNvSpPr/>
          <p:nvPr/>
        </p:nvSpPr>
        <p:spPr>
          <a:xfrm>
            <a:off x="990600" y="2514600"/>
            <a:ext cx="3638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SUJETS ENVISAGÉS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90600" y="2762250"/>
            <a:ext cx="36385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Churn et CLV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90600" y="3486150"/>
            <a:ext cx="3619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7ECF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Logistic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7ECF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Regression · Random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7ECF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Forest · XGBoost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90600" y="5086350"/>
            <a:ext cx="609600" cy="0"/>
          </a:xfrm>
          <a:prstGeom prst="line">
            <a:avLst/>
          </a:prstGeom>
          <a:noFill/>
          <a:ln w="12700">
            <a:solidFill>
              <a:srgbClr val="5E7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0600" y="5238750"/>
            <a:ext cx="3619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EBBD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Trois algorithmes pressentis — non entraînés.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334000" y="2457450"/>
            <a:ext cx="285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BC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91200" y="2381250"/>
            <a:ext cx="5619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données actuelles ne contiennent </a:t>
            </a:r>
            <a:r>
              <a:rPr lang="en-US" sz="1400" b="1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 de cible Churn</a:t>
            </a:r>
            <a:r>
              <a:rPr lang="en-US" sz="140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334000" y="3143250"/>
            <a:ext cx="6096000" cy="0"/>
          </a:xfrm>
          <a:prstGeom prst="line">
            <a:avLst/>
          </a:prstGeom>
          <a:noFill/>
          <a:ln w="12700">
            <a:solidFill>
              <a:srgbClr val="D3E1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34000" y="3314700"/>
            <a:ext cx="285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BC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791200" y="3238500"/>
            <a:ext cx="5619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nombre de clients est trop faible pour une évaluation sérieuse.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34000" y="4000500"/>
            <a:ext cx="6096000" cy="0"/>
          </a:xfrm>
          <a:prstGeom prst="line">
            <a:avLst/>
          </a:prstGeom>
          <a:noFill/>
          <a:ln w="12700">
            <a:solidFill>
              <a:srgbClr val="D3E1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34000" y="4171950"/>
            <a:ext cx="285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BC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91200" y="4095750"/>
            <a:ext cx="5619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Il serait incorrect de </a:t>
            </a:r>
            <a:r>
              <a:rPr lang="en-US" sz="1400" b="1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fabriquer une accuracy</a:t>
            </a:r>
            <a:r>
              <a:rPr lang="en-US" sz="140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334000" y="4857750"/>
            <a:ext cx="6096000" cy="0"/>
          </a:xfrm>
          <a:prstGeom prst="line">
            <a:avLst/>
          </a:prstGeom>
          <a:noFill/>
          <a:ln w="12700">
            <a:solidFill>
              <a:srgbClr val="D3E1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34000" y="5029200"/>
            <a:ext cx="285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BC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791200" y="4953000"/>
            <a:ext cx="5619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vrai modèle nécessite plus de données et une cible définie.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62000" y="6057900"/>
            <a:ext cx="10668000" cy="533400"/>
          </a:xfrm>
          <a:prstGeom prst="rect">
            <a:avLst/>
          </a:prstGeom>
          <a:solidFill>
            <a:srgbClr val="EEF1F6"/>
          </a:solidFill>
          <a:ln w="12700">
            <a:solidFill>
              <a:srgbClr val="90ABCE"/>
            </a:solidFill>
            <a:prstDash val="dash"/>
          </a:ln>
        </p:spPr>
        <p:txBody>
          <a:bodyPr/>
          <a:lstStyle/>
          <a:p>
            <a:endParaRPr lang="fr-FR" dirty="0"/>
          </a:p>
        </p:txBody>
      </p:sp>
      <p:sp>
        <p:nvSpPr>
          <p:cNvPr id="27" name="Text 25"/>
          <p:cNvSpPr/>
          <p:nvPr/>
        </p:nvSpPr>
        <p:spPr>
          <a:xfrm>
            <a:off x="762000" y="6057900"/>
            <a:ext cx="10668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5500" cy="3810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3" name="Shape 1"/>
          <p:cNvSpPr/>
          <p:nvPr/>
        </p:nvSpPr>
        <p:spPr>
          <a:xfrm>
            <a:off x="2095500" y="0"/>
            <a:ext cx="762000" cy="38100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666750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14450" y="781050"/>
            <a:ext cx="428625" cy="0"/>
          </a:xfrm>
          <a:prstGeom prst="line">
            <a:avLst/>
          </a:prstGeom>
          <a:noFill/>
          <a:ln w="12700">
            <a:solidFill>
              <a:srgbClr val="90AB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66675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CHAPITRE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2000" y="933450"/>
            <a:ext cx="857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 Streamlit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762000" y="1752600"/>
            <a:ext cx="5334000" cy="53340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1752600"/>
            <a:ext cx="1047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COMMANDE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52650" y="1752600"/>
            <a:ext cx="381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streamlit run dashboard/app.py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06061" y="1355776"/>
            <a:ext cx="3562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Application interactive · décisionnelle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62000" y="2628900"/>
            <a:ext cx="57150" cy="57150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2552700"/>
            <a:ext cx="457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Interface interactive développée avec Streamlit.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62000" y="2990850"/>
            <a:ext cx="57150" cy="57150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2914650"/>
            <a:ext cx="457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Indicateurs : clients, ventes, quantité et revenu.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62000" y="3352800"/>
            <a:ext cx="57150" cy="57150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3276600"/>
            <a:ext cx="457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Analyse des campagnes et KPI.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62000" y="3714750"/>
            <a:ext cx="57150" cy="57150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" y="3638550"/>
            <a:ext cx="457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Visualisation de la segmentation.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62000" y="4076700"/>
            <a:ext cx="57150" cy="57150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21" name="Text 19"/>
          <p:cNvSpPr/>
          <p:nvPr/>
        </p:nvSpPr>
        <p:spPr>
          <a:xfrm>
            <a:off x="952500" y="4000500"/>
            <a:ext cx="457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Support à la présentation et à la prise de décision.</a:t>
            </a:r>
            <a:endParaRPr lang="en-US" sz="1450" dirty="0"/>
          </a:p>
        </p:txBody>
      </p:sp>
      <p:pic>
        <p:nvPicPr>
          <p:cNvPr id="54" name="Image 53">
            <a:extLst>
              <a:ext uri="{FF2B5EF4-FFF2-40B4-BE49-F238E27FC236}">
                <a16:creationId xmlns:a16="http://schemas.microsoft.com/office/drawing/2014/main" id="{DD515D90-42EB-4C90-9CFE-A12DA2937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818042"/>
            <a:ext cx="5602814" cy="27576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5500" cy="3810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3" name="Shape 1"/>
          <p:cNvSpPr/>
          <p:nvPr/>
        </p:nvSpPr>
        <p:spPr>
          <a:xfrm>
            <a:off x="2095500" y="0"/>
            <a:ext cx="762000" cy="38100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666750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14450" y="781050"/>
            <a:ext cx="428625" cy="0"/>
          </a:xfrm>
          <a:prstGeom prst="line">
            <a:avLst/>
          </a:prstGeom>
          <a:noFill/>
          <a:ln w="12700">
            <a:solidFill>
              <a:srgbClr val="90AB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66675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CHAPITRE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2000" y="933450"/>
            <a:ext cx="857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Tests et GitHub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62000" y="1771650"/>
            <a:ext cx="10001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Bonnes pratiques : environnement virtuel + commits structurés.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7580" y="2248131"/>
            <a:ext cx="4949864" cy="3422613"/>
          </a:xfrm>
          <a:prstGeom prst="rect">
            <a:avLst/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7581" y="2248131"/>
            <a:ext cx="4949864" cy="571500"/>
          </a:xfrm>
          <a:prstGeom prst="rect">
            <a:avLst/>
          </a:prstGeom>
          <a:solidFill>
            <a:srgbClr val="202A41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1" name="Text 9"/>
          <p:cNvSpPr/>
          <p:nvPr/>
        </p:nvSpPr>
        <p:spPr>
          <a:xfrm>
            <a:off x="990600" y="2286000"/>
            <a:ext cx="95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05000" y="2286000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pytest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0600" y="2972034"/>
            <a:ext cx="46101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Tests avec </a:t>
            </a:r>
            <a:r>
              <a:rPr lang="en-US" sz="1400" dirty="0">
                <a:solidFill>
                  <a:srgbClr val="202A4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pytest</a:t>
            </a:r>
            <a:r>
              <a:rPr lang="en-US" sz="140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pour vérifier les fichiers et colonnes essentielles.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2000" y="3842280"/>
            <a:ext cx="3962400" cy="49530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15" name="Text 13"/>
          <p:cNvSpPr/>
          <p:nvPr/>
        </p:nvSpPr>
        <p:spPr>
          <a:xfrm>
            <a:off x="1219200" y="3810000"/>
            <a:ext cx="3714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$ python -m pytest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27040" y="4028977"/>
            <a:ext cx="285750" cy="152400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17" name="Shape 15"/>
          <p:cNvSpPr/>
          <p:nvPr/>
        </p:nvSpPr>
        <p:spPr>
          <a:xfrm>
            <a:off x="776344" y="4589261"/>
            <a:ext cx="76199" cy="285750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18" name="Text 16"/>
          <p:cNvSpPr/>
          <p:nvPr/>
        </p:nvSpPr>
        <p:spPr>
          <a:xfrm>
            <a:off x="906614" y="4614638"/>
            <a:ext cx="4342504" cy="338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Valide la cohérence minimale avant tout commit.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2635" y="2276475"/>
            <a:ext cx="5251077" cy="3398208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2634" y="2305050"/>
            <a:ext cx="5251077" cy="571500"/>
          </a:xfrm>
          <a:prstGeom prst="rect">
            <a:avLst/>
          </a:prstGeom>
          <a:solidFill>
            <a:srgbClr val="5E7396"/>
          </a:solidFill>
          <a:ln/>
        </p:spPr>
      </p:sp>
      <p:sp>
        <p:nvSpPr>
          <p:cNvPr id="21" name="Text 19"/>
          <p:cNvSpPr/>
          <p:nvPr/>
        </p:nvSpPr>
        <p:spPr>
          <a:xfrm>
            <a:off x="6515100" y="2286000"/>
            <a:ext cx="468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E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VERSIONNEMENT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15100" y="2895600"/>
            <a:ext cx="4686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 · GitHub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553200" y="3429000"/>
            <a:ext cx="57150" cy="57150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24" name="Text 22"/>
          <p:cNvSpPr/>
          <p:nvPr/>
        </p:nvSpPr>
        <p:spPr>
          <a:xfrm>
            <a:off x="6743700" y="3352800"/>
            <a:ext cx="438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 versionne chaque grande étape.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553200" y="3790950"/>
            <a:ext cx="57150" cy="57150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26" name="Text 24"/>
          <p:cNvSpPr/>
          <p:nvPr/>
        </p:nvSpPr>
        <p:spPr>
          <a:xfrm>
            <a:off x="6743700" y="3714750"/>
            <a:ext cx="438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centralise le code et la documentation.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553200" y="4152900"/>
            <a:ext cx="57150" cy="57150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28" name="Text 26"/>
          <p:cNvSpPr/>
          <p:nvPr/>
        </p:nvSpPr>
        <p:spPr>
          <a:xfrm>
            <a:off x="6743700" y="4076700"/>
            <a:ext cx="4381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README</a:t>
            </a:r>
            <a:r>
              <a:rPr lang="en-US" sz="13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+ </a:t>
            </a:r>
            <a:r>
              <a:rPr lang="en-US" sz="135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requirements.txt</a:t>
            </a:r>
            <a:r>
              <a:rPr lang="en-US" sz="13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facilitent la reproduction.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10467862" y="4524375"/>
            <a:ext cx="1085850" cy="685800"/>
          </a:xfrm>
          <a:custGeom>
            <a:avLst/>
            <a:gdLst/>
            <a:ahLst/>
            <a:cxnLst/>
            <a:rect l="l" t="t" r="r" b="b"/>
            <a:pathLst>
              <a:path w="1085850" h="685800">
                <a:moveTo>
                  <a:pt x="0" y="0"/>
                </a:moveTo>
                <a:lnTo>
                  <a:pt x="1085850" y="0"/>
                </a:lnTo>
                <a:lnTo>
                  <a:pt x="1085850" y="685800"/>
                </a:lnTo>
                <a:lnTo>
                  <a:pt x="0" y="685800"/>
                </a:lnTo>
                <a:close/>
              </a:path>
            </a:pathLst>
          </a:custGeom>
          <a:solidFill>
            <a:srgbClr val="3C4A6B"/>
          </a:solidFill>
          <a:ln/>
        </p:spPr>
      </p:sp>
      <p:sp>
        <p:nvSpPr>
          <p:cNvPr id="52" name="Shape 24">
            <a:extLst>
              <a:ext uri="{FF2B5EF4-FFF2-40B4-BE49-F238E27FC236}">
                <a16:creationId xmlns:a16="http://schemas.microsoft.com/office/drawing/2014/main" id="{0DFDCF8B-4D2D-4853-8E3A-F91F5F5CCBC5}"/>
              </a:ext>
            </a:extLst>
          </p:cNvPr>
          <p:cNvSpPr/>
          <p:nvPr/>
        </p:nvSpPr>
        <p:spPr>
          <a:xfrm>
            <a:off x="762000" y="6169983"/>
            <a:ext cx="10668000" cy="533400"/>
          </a:xfrm>
          <a:prstGeom prst="rect">
            <a:avLst/>
          </a:prstGeom>
          <a:solidFill>
            <a:srgbClr val="EEF1F6"/>
          </a:solidFill>
          <a:ln w="12700">
            <a:solidFill>
              <a:srgbClr val="90ABCE"/>
            </a:solidFill>
            <a:prstDash val="dash"/>
          </a:ln>
        </p:spPr>
        <p:txBody>
          <a:bodyPr/>
          <a:lstStyle/>
          <a:p>
            <a:endParaRPr lang="fr-FR" dirty="0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92324535-D506-46D0-826B-795D64957878}"/>
              </a:ext>
            </a:extLst>
          </p:cNvPr>
          <p:cNvSpPr txBox="1"/>
          <p:nvPr/>
        </p:nvSpPr>
        <p:spPr>
          <a:xfrm>
            <a:off x="2183243" y="6245074"/>
            <a:ext cx="78966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 Lien repository: </a:t>
            </a:r>
            <a:r>
              <a:rPr lang="en-US" sz="1800" dirty="0">
                <a:hlinkClick r:id="rId3"/>
              </a:rPr>
              <a:t>https://github.com/Ranto-nyaina/Projet_Marketing_digital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5500" cy="3810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3" name="Shape 1"/>
          <p:cNvSpPr/>
          <p:nvPr/>
        </p:nvSpPr>
        <p:spPr>
          <a:xfrm>
            <a:off x="2095500" y="0"/>
            <a:ext cx="762000" cy="38100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666750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14450" y="781050"/>
            <a:ext cx="428625" cy="0"/>
          </a:xfrm>
          <a:prstGeom prst="line">
            <a:avLst/>
          </a:prstGeom>
          <a:noFill/>
          <a:ln w="12700">
            <a:solidFill>
              <a:srgbClr val="90AB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66675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CHAPITRE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2000" y="933450"/>
            <a:ext cx="857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Limites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762000" y="1885950"/>
            <a:ext cx="762000" cy="0"/>
          </a:xfrm>
          <a:prstGeom prst="line">
            <a:avLst/>
          </a:prstGeom>
          <a:noFill/>
          <a:ln w="15875">
            <a:solidFill>
              <a:srgbClr val="202A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7500" y="1219200"/>
            <a:ext cx="4000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55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 qu'il faut garder en tête avant de conclure.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62000" y="2286000"/>
            <a:ext cx="3429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000" y="2286000"/>
            <a:ext cx="3429000" cy="47625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12" name="Text 10"/>
          <p:cNvSpPr/>
          <p:nvPr/>
        </p:nvSpPr>
        <p:spPr>
          <a:xfrm>
            <a:off x="990600" y="2514600"/>
            <a:ext cx="2971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0504D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Risque / 01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90600" y="2762250"/>
            <a:ext cx="297180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Dataset très petit : 5 clients et 5 transactions.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81500" y="2286000"/>
            <a:ext cx="3429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1500" y="2286000"/>
            <a:ext cx="3429000" cy="47625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16" name="Text 14"/>
          <p:cNvSpPr/>
          <p:nvPr/>
        </p:nvSpPr>
        <p:spPr>
          <a:xfrm>
            <a:off x="4610100" y="2514600"/>
            <a:ext cx="2971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0504D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Risque / 02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10100" y="2762250"/>
            <a:ext cx="297180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Segmentation K-Means essentiellement démonstrative.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01000" y="2286000"/>
            <a:ext cx="3429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0" y="2286000"/>
            <a:ext cx="3429000" cy="47625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2514600"/>
            <a:ext cx="2971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0504D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Risque / 03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0" y="2762250"/>
            <a:ext cx="297180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Absence de variable Churn.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2000" y="4000500"/>
            <a:ext cx="3429000" cy="152400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23" name="Shape 21"/>
          <p:cNvSpPr/>
          <p:nvPr/>
        </p:nvSpPr>
        <p:spPr>
          <a:xfrm>
            <a:off x="762000" y="4000500"/>
            <a:ext cx="3429000" cy="47625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24" name="Text 22"/>
          <p:cNvSpPr/>
          <p:nvPr/>
        </p:nvSpPr>
        <p:spPr>
          <a:xfrm>
            <a:off x="990600" y="4229100"/>
            <a:ext cx="2971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0504D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Risque / 04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90600" y="4476750"/>
            <a:ext cx="297180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Absence de revenu attribué aux campagnes.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381500" y="4000500"/>
            <a:ext cx="3429000" cy="152400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27" name="Shape 25"/>
          <p:cNvSpPr/>
          <p:nvPr/>
        </p:nvSpPr>
        <p:spPr>
          <a:xfrm>
            <a:off x="4381500" y="4000500"/>
            <a:ext cx="3429000" cy="47625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28" name="Text 26"/>
          <p:cNvSpPr/>
          <p:nvPr/>
        </p:nvSpPr>
        <p:spPr>
          <a:xfrm>
            <a:off x="4610100" y="4229100"/>
            <a:ext cx="2971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0504D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Risque / 05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610100" y="4476750"/>
            <a:ext cx="297180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ROI financier non calculable.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001000" y="4000500"/>
            <a:ext cx="3429000" cy="152400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31" name="Shape 29"/>
          <p:cNvSpPr/>
          <p:nvPr/>
        </p:nvSpPr>
        <p:spPr>
          <a:xfrm>
            <a:off x="8001000" y="4000500"/>
            <a:ext cx="3429000" cy="47625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0" y="4229100"/>
            <a:ext cx="2971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0504D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Risque / 06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229600" y="4476750"/>
            <a:ext cx="297180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Certaines valeurs clients ne sont pas vérifiables uniquement avec les transactions.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62000" y="5791200"/>
            <a:ext cx="10668000" cy="533400"/>
          </a:xfrm>
          <a:prstGeom prst="rect">
            <a:avLst/>
          </a:prstGeom>
          <a:solidFill>
            <a:srgbClr val="F4F3F1"/>
          </a:solidFill>
          <a:ln w="12700">
            <a:solidFill>
              <a:srgbClr val="90ABC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90600" y="5791200"/>
            <a:ext cx="10210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limites sont documentées — le projet décrit une chaîne, pas une vérité statistique.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5500" cy="3810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3" name="Shape 1"/>
          <p:cNvSpPr/>
          <p:nvPr/>
        </p:nvSpPr>
        <p:spPr>
          <a:xfrm>
            <a:off x="2095500" y="0"/>
            <a:ext cx="762000" cy="38100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666750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14450" y="781050"/>
            <a:ext cx="428625" cy="0"/>
          </a:xfrm>
          <a:prstGeom prst="line">
            <a:avLst/>
          </a:prstGeom>
          <a:noFill/>
          <a:ln w="12700">
            <a:solidFill>
              <a:srgbClr val="90AB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66675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CHAPITRE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2000" y="933450"/>
            <a:ext cx="857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Perspectives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762000" y="1885950"/>
            <a:ext cx="3429000" cy="1809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1885950"/>
            <a:ext cx="3429000" cy="47625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10" name="Text 8"/>
          <p:cNvSpPr/>
          <p:nvPr/>
        </p:nvSpPr>
        <p:spPr>
          <a:xfrm>
            <a:off x="990600" y="2114550"/>
            <a:ext cx="2971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BC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 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90600" y="2286000"/>
            <a:ext cx="2971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A93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DONNÉES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90600" y="2495550"/>
            <a:ext cx="2971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Utiliser un dataset réel et plus volumineux.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81500" y="1885950"/>
            <a:ext cx="3429000" cy="1809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1500" y="1885950"/>
            <a:ext cx="3429000" cy="47625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15" name="Text 13"/>
          <p:cNvSpPr/>
          <p:nvPr/>
        </p:nvSpPr>
        <p:spPr>
          <a:xfrm>
            <a:off x="4610100" y="2114550"/>
            <a:ext cx="2971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BC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 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10100" y="2286000"/>
            <a:ext cx="2971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A93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HISTORIQUE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10100" y="2495550"/>
            <a:ext cx="2971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Ajouter l'historique complet des achats.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01000" y="1885950"/>
            <a:ext cx="3429000" cy="180975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19" name="Shape 17"/>
          <p:cNvSpPr/>
          <p:nvPr/>
        </p:nvSpPr>
        <p:spPr>
          <a:xfrm>
            <a:off x="8001000" y="1885950"/>
            <a:ext cx="3429000" cy="47625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2114550"/>
            <a:ext cx="2971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BC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 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0" y="2286000"/>
            <a:ext cx="2971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DB0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SIGNAUX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0" y="2495550"/>
            <a:ext cx="2971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Ajouter interactions digitales et revenus par campagne.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3886200"/>
            <a:ext cx="3429000" cy="180975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24" name="Shape 22"/>
          <p:cNvSpPr/>
          <p:nvPr/>
        </p:nvSpPr>
        <p:spPr>
          <a:xfrm>
            <a:off x="762000" y="3886200"/>
            <a:ext cx="3429000" cy="47625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25" name="Text 23"/>
          <p:cNvSpPr/>
          <p:nvPr/>
        </p:nvSpPr>
        <p:spPr>
          <a:xfrm>
            <a:off x="990600" y="4114800"/>
            <a:ext cx="2971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BC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 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90600" y="4286250"/>
            <a:ext cx="2971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DB0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CIBLE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90600" y="4495800"/>
            <a:ext cx="2971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Construire une vraie cible Churn.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81500" y="3886200"/>
            <a:ext cx="3429000" cy="1809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1500" y="3886200"/>
            <a:ext cx="3429000" cy="47625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30" name="Text 28"/>
          <p:cNvSpPr/>
          <p:nvPr/>
        </p:nvSpPr>
        <p:spPr>
          <a:xfrm>
            <a:off x="4610100" y="4114800"/>
            <a:ext cx="2971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BC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 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10100" y="4286250"/>
            <a:ext cx="2971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A93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MODÉLISATION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10100" y="4495800"/>
            <a:ext cx="2971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Comparer plusieurs modèles avec validation adaptée.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001000" y="3886200"/>
            <a:ext cx="3429000" cy="1809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01000" y="3886200"/>
            <a:ext cx="3429000" cy="47625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0" y="4114800"/>
            <a:ext cx="2971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BC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 06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0" y="4286250"/>
            <a:ext cx="2971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A93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INDUSTRIALISATION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29600" y="4495800"/>
            <a:ext cx="2971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02A4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MLflow, Docker</a:t>
            </a:r>
            <a:r>
              <a:rPr lang="en-US" sz="1600" b="1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et </a:t>
            </a:r>
            <a:r>
              <a:rPr lang="en-US" sz="1600" b="1" dirty="0">
                <a:solidFill>
                  <a:srgbClr val="202A4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GitHub Actions</a:t>
            </a:r>
            <a:r>
              <a:rPr lang="en-US" sz="1600" b="1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pour industrialiser.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5500" cy="3810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3" name="Shape 1"/>
          <p:cNvSpPr/>
          <p:nvPr/>
        </p:nvSpPr>
        <p:spPr>
          <a:xfrm>
            <a:off x="2095500" y="0"/>
            <a:ext cx="762000" cy="38100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666750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14450" y="781050"/>
            <a:ext cx="428625" cy="0"/>
          </a:xfrm>
          <a:prstGeom prst="line">
            <a:avLst/>
          </a:prstGeom>
          <a:noFill/>
          <a:ln w="12700">
            <a:solidFill>
              <a:srgbClr val="90AB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66675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CHAPITRE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2000" y="933450"/>
            <a:ext cx="857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Livrables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762000" y="1885950"/>
            <a:ext cx="2667000" cy="1666875"/>
          </a:xfrm>
          <a:prstGeom prst="rect">
            <a:avLst/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1885950"/>
            <a:ext cx="38100" cy="1666875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10" name="Text 8"/>
          <p:cNvSpPr/>
          <p:nvPr/>
        </p:nvSpPr>
        <p:spPr>
          <a:xfrm>
            <a:off x="990600" y="205740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90600" y="2286000"/>
            <a:ext cx="22479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Rapport final Word/PDF.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619500" y="1885950"/>
            <a:ext cx="2667000" cy="1666875"/>
          </a:xfrm>
          <a:prstGeom prst="rect">
            <a:avLst/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9500" y="1885950"/>
            <a:ext cx="38100" cy="1666875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14" name="Text 12"/>
          <p:cNvSpPr/>
          <p:nvPr/>
        </p:nvSpPr>
        <p:spPr>
          <a:xfrm>
            <a:off x="3848100" y="205740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8100" y="2286000"/>
            <a:ext cx="22479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Présentation PowerPoint.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77000" y="1885950"/>
            <a:ext cx="2667000" cy="1666875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17" name="Shape 15"/>
          <p:cNvSpPr/>
          <p:nvPr/>
        </p:nvSpPr>
        <p:spPr>
          <a:xfrm>
            <a:off x="6477000" y="1885950"/>
            <a:ext cx="38100" cy="1666875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18" name="Text 16"/>
          <p:cNvSpPr/>
          <p:nvPr/>
        </p:nvSpPr>
        <p:spPr>
          <a:xfrm>
            <a:off x="6705600" y="205740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05600" y="2286000"/>
            <a:ext cx="22479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 source et notebooks.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334500" y="1885950"/>
            <a:ext cx="2667000" cy="1666875"/>
          </a:xfrm>
          <a:prstGeom prst="rect">
            <a:avLst/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34500" y="1885950"/>
            <a:ext cx="38100" cy="1666875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22" name="Text 20"/>
          <p:cNvSpPr/>
          <p:nvPr/>
        </p:nvSpPr>
        <p:spPr>
          <a:xfrm>
            <a:off x="9563100" y="205740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563100" y="2286000"/>
            <a:ext cx="22479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 Streamlit.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62000" y="3743325"/>
            <a:ext cx="2667000" cy="1666875"/>
          </a:xfrm>
          <a:prstGeom prst="rect">
            <a:avLst/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2000" y="3743325"/>
            <a:ext cx="38100" cy="1666875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26" name="Text 24"/>
          <p:cNvSpPr/>
          <p:nvPr/>
        </p:nvSpPr>
        <p:spPr>
          <a:xfrm>
            <a:off x="990600" y="3914775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90600" y="4143375"/>
            <a:ext cx="22479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02A4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README</a:t>
            </a:r>
            <a:r>
              <a:rPr lang="en-US" sz="135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+ </a:t>
            </a:r>
            <a:r>
              <a:rPr lang="en-US" sz="1350" dirty="0">
                <a:solidFill>
                  <a:srgbClr val="202A4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requirements.txt</a:t>
            </a:r>
            <a:r>
              <a:rPr lang="en-US" sz="135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3619500" y="3743325"/>
            <a:ext cx="2667000" cy="1666875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29" name="Shape 27"/>
          <p:cNvSpPr/>
          <p:nvPr/>
        </p:nvSpPr>
        <p:spPr>
          <a:xfrm>
            <a:off x="3619500" y="3743325"/>
            <a:ext cx="38100" cy="1666875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30" name="Text 28"/>
          <p:cNvSpPr/>
          <p:nvPr/>
        </p:nvSpPr>
        <p:spPr>
          <a:xfrm>
            <a:off x="3848100" y="3914775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48100" y="4143375"/>
            <a:ext cx="22479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Résultats de segmentation et analyse marketing.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477000" y="3743325"/>
            <a:ext cx="2667000" cy="1666875"/>
          </a:xfrm>
          <a:prstGeom prst="rect">
            <a:avLst/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77000" y="3743325"/>
            <a:ext cx="38100" cy="1666875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34" name="Text 32"/>
          <p:cNvSpPr/>
          <p:nvPr/>
        </p:nvSpPr>
        <p:spPr>
          <a:xfrm>
            <a:off x="6705600" y="3914775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05600" y="4143375"/>
            <a:ext cx="22479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Repository GitHub.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11525250" y="6191250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0" y="0"/>
                </a:moveTo>
                <a:lnTo>
                  <a:pt x="666750" y="0"/>
                </a:lnTo>
                <a:lnTo>
                  <a:pt x="666750" y="666750"/>
                </a:lnTo>
                <a:close/>
              </a:path>
            </a:pathLst>
          </a:custGeom>
          <a:solidFill>
            <a:srgbClr val="2B3856"/>
          </a:solidFill>
          <a:ln/>
        </p:spPr>
      </p:sp>
      <p:sp>
        <p:nvSpPr>
          <p:cNvPr id="37" name="Shape 35"/>
          <p:cNvSpPr/>
          <p:nvPr/>
        </p:nvSpPr>
        <p:spPr>
          <a:xfrm>
            <a:off x="762000" y="5848350"/>
            <a:ext cx="762000" cy="0"/>
          </a:xfrm>
          <a:prstGeom prst="line">
            <a:avLst/>
          </a:prstGeom>
          <a:noFill/>
          <a:ln w="15875">
            <a:solidFill>
              <a:srgbClr val="202A4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2000" y="5943600"/>
            <a:ext cx="952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SEPT LIVRABLES — UN PROJET REPRODUCTIBLE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5500" cy="3810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3" name="Shape 1"/>
          <p:cNvSpPr/>
          <p:nvPr/>
        </p:nvSpPr>
        <p:spPr>
          <a:xfrm>
            <a:off x="2095500" y="0"/>
            <a:ext cx="762000" cy="38100"/>
          </a:xfrm>
          <a:prstGeom prst="rect">
            <a:avLst/>
          </a:prstGeom>
          <a:solidFill>
            <a:srgbClr val="90ABC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666750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14450" y="781050"/>
            <a:ext cx="428625" cy="0"/>
          </a:xfrm>
          <a:prstGeom prst="line">
            <a:avLst/>
          </a:prstGeom>
          <a:noFill/>
          <a:ln w="12700">
            <a:solidFill>
              <a:srgbClr val="90AB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66675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CHAPITRE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2000" y="933450"/>
            <a:ext cx="857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62000" y="1771650"/>
            <a:ext cx="10001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169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Analyser les données pour mieux cibler et mieux décider.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514600"/>
            <a:ext cx="4572000" cy="3600450"/>
          </a:xfrm>
          <a:prstGeom prst="rect">
            <a:avLst/>
          </a:prstGeom>
          <a:solidFill>
            <a:srgbClr val="202A41"/>
          </a:solidFill>
          <a:ln/>
        </p:spPr>
      </p:sp>
      <p:sp>
        <p:nvSpPr>
          <p:cNvPr id="10" name="Text 8"/>
          <p:cNvSpPr/>
          <p:nvPr/>
        </p:nvSpPr>
        <p:spPr>
          <a:xfrm>
            <a:off x="990600" y="2743200"/>
            <a:ext cx="4114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 QU'IL FAUT RETENIR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90600" y="2990850"/>
            <a:ext cx="41148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Une chaîne complète d'analyse marketing a été mise en place — des données jusqu'à la décision.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90600" y="4933950"/>
            <a:ext cx="609600" cy="0"/>
          </a:xfrm>
          <a:prstGeom prst="line">
            <a:avLst/>
          </a:prstGeom>
          <a:noFill/>
          <a:ln w="12700">
            <a:solidFill>
              <a:srgbClr val="5E73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0600" y="5086350"/>
            <a:ext cx="4095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AEBBD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Honnête sur ses limites, écrite pour être prolongée.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715000" y="2819400"/>
            <a:ext cx="228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0" y="2743200"/>
            <a:ext cx="54864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segmentation structure les clients en groupes interprétables.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715000" y="3219450"/>
            <a:ext cx="5715000" cy="0"/>
          </a:xfrm>
          <a:prstGeom prst="line">
            <a:avLst/>
          </a:prstGeom>
          <a:noFill/>
          <a:ln w="12700">
            <a:solidFill>
              <a:srgbClr val="D3E1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0" y="3371850"/>
            <a:ext cx="228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0" y="3295650"/>
            <a:ext cx="54864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KPI permettent de comparer les campagnes.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715000" y="3771900"/>
            <a:ext cx="5715000" cy="0"/>
          </a:xfrm>
          <a:prstGeom prst="line">
            <a:avLst/>
          </a:prstGeom>
          <a:noFill/>
          <a:ln w="12700">
            <a:solidFill>
              <a:srgbClr val="D3E1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3924300"/>
            <a:ext cx="228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0" y="3848100"/>
            <a:ext cx="54864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dashboard facilite la lecture des résultats.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715000" y="4324350"/>
            <a:ext cx="5715000" cy="0"/>
          </a:xfrm>
          <a:prstGeom prst="line">
            <a:avLst/>
          </a:prstGeom>
          <a:noFill/>
          <a:ln w="12700">
            <a:solidFill>
              <a:srgbClr val="D3E1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4476750"/>
            <a:ext cx="228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0" y="4400550"/>
            <a:ext cx="54864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 données plus riches permettront une vraie prédiction du churn/CLV.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62000" y="6286500"/>
            <a:ext cx="762000" cy="0"/>
          </a:xfrm>
          <a:prstGeom prst="line">
            <a:avLst/>
          </a:prstGeom>
          <a:noFill/>
          <a:ln w="15875">
            <a:solidFill>
              <a:srgbClr val="202A41"/>
            </a:solidFill>
            <a:prstDash val="solid"/>
          </a:ln>
        </p:spPr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69A89957-D55E-4B0E-99C6-3F9ACCF0F076}"/>
              </a:ext>
            </a:extLst>
          </p:cNvPr>
          <p:cNvSpPr/>
          <p:nvPr/>
        </p:nvSpPr>
        <p:spPr>
          <a:xfrm rot="16705351">
            <a:off x="11562995" y="6138525"/>
            <a:ext cx="571500" cy="762000"/>
          </a:xfrm>
          <a:custGeom>
            <a:avLst/>
            <a:gdLst/>
            <a:ahLst/>
            <a:cxnLst/>
            <a:rect l="l" t="t" r="r" b="b"/>
            <a:pathLst>
              <a:path w="571500" h="762000">
                <a:moveTo>
                  <a:pt x="0" y="0"/>
                </a:moveTo>
                <a:lnTo>
                  <a:pt x="571500" y="381000"/>
                </a:lnTo>
                <a:lnTo>
                  <a:pt x="0" y="762000"/>
                </a:lnTo>
                <a:close/>
              </a:path>
            </a:pathLst>
          </a:custGeom>
          <a:solidFill>
            <a:srgbClr val="3C4A6B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0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57500" cy="1809750"/>
          </a:xfrm>
          <a:custGeom>
            <a:avLst/>
            <a:gdLst/>
            <a:ahLst/>
            <a:cxnLst/>
            <a:rect l="l" t="t" r="r" b="b"/>
            <a:pathLst>
              <a:path w="2857500" h="1809750">
                <a:moveTo>
                  <a:pt x="0" y="0"/>
                </a:moveTo>
                <a:lnTo>
                  <a:pt x="2857500" y="0"/>
                </a:lnTo>
                <a:lnTo>
                  <a:pt x="0" y="1809750"/>
                </a:lnTo>
                <a:close/>
              </a:path>
            </a:pathLst>
          </a:custGeom>
          <a:solidFill>
            <a:srgbClr val="90ABCE"/>
          </a:solidFill>
          <a:ln/>
        </p:spPr>
      </p:sp>
      <p:sp>
        <p:nvSpPr>
          <p:cNvPr id="3" name="Shape 1"/>
          <p:cNvSpPr/>
          <p:nvPr/>
        </p:nvSpPr>
        <p:spPr>
          <a:xfrm>
            <a:off x="10001250" y="5334000"/>
            <a:ext cx="2190750" cy="1524000"/>
          </a:xfrm>
          <a:custGeom>
            <a:avLst/>
            <a:gdLst/>
            <a:ahLst/>
            <a:cxnLst/>
            <a:rect l="l" t="t" r="r" b="b"/>
            <a:pathLst>
              <a:path w="2190750" h="1524000">
                <a:moveTo>
                  <a:pt x="0" y="1524000"/>
                </a:moveTo>
                <a:lnTo>
                  <a:pt x="2190750" y="0"/>
                </a:lnTo>
                <a:lnTo>
                  <a:pt x="2190750" y="1524000"/>
                </a:lnTo>
                <a:close/>
              </a:path>
            </a:pathLst>
          </a:custGeom>
          <a:solidFill>
            <a:srgbClr val="2B3856"/>
          </a:solidFill>
          <a:ln/>
        </p:spPr>
      </p:sp>
      <p:sp>
        <p:nvSpPr>
          <p:cNvPr id="4" name="Shape 2"/>
          <p:cNvSpPr/>
          <p:nvPr/>
        </p:nvSpPr>
        <p:spPr>
          <a:xfrm>
            <a:off x="569595" y="5713095"/>
            <a:ext cx="41910" cy="41910"/>
          </a:xfrm>
          <a:prstGeom prst="ellipse">
            <a:avLst/>
          </a:prstGeom>
          <a:solidFill>
            <a:srgbClr val="90ABCE"/>
          </a:solidFill>
          <a:ln/>
        </p:spPr>
      </p:sp>
      <p:sp>
        <p:nvSpPr>
          <p:cNvPr id="5" name="Shape 3"/>
          <p:cNvSpPr/>
          <p:nvPr/>
        </p:nvSpPr>
        <p:spPr>
          <a:xfrm>
            <a:off x="836295" y="5713095"/>
            <a:ext cx="41910" cy="41910"/>
          </a:xfrm>
          <a:prstGeom prst="ellipse">
            <a:avLst/>
          </a:prstGeom>
          <a:solidFill>
            <a:srgbClr val="90ABCE"/>
          </a:solidFill>
          <a:ln/>
        </p:spPr>
      </p:sp>
      <p:sp>
        <p:nvSpPr>
          <p:cNvPr id="6" name="Shape 4"/>
          <p:cNvSpPr/>
          <p:nvPr/>
        </p:nvSpPr>
        <p:spPr>
          <a:xfrm>
            <a:off x="1102995" y="5713095"/>
            <a:ext cx="41910" cy="41910"/>
          </a:xfrm>
          <a:prstGeom prst="ellipse">
            <a:avLst/>
          </a:prstGeom>
          <a:solidFill>
            <a:srgbClr val="90ABCE"/>
          </a:solidFill>
          <a:ln/>
        </p:spPr>
      </p:sp>
      <p:sp>
        <p:nvSpPr>
          <p:cNvPr id="7" name="Shape 5"/>
          <p:cNvSpPr/>
          <p:nvPr/>
        </p:nvSpPr>
        <p:spPr>
          <a:xfrm>
            <a:off x="1369695" y="5713095"/>
            <a:ext cx="41910" cy="41910"/>
          </a:xfrm>
          <a:prstGeom prst="ellipse">
            <a:avLst/>
          </a:prstGeom>
          <a:solidFill>
            <a:srgbClr val="90ABCE"/>
          </a:solidFill>
          <a:ln/>
        </p:spPr>
      </p:sp>
      <p:sp>
        <p:nvSpPr>
          <p:cNvPr id="8" name="Shape 6"/>
          <p:cNvSpPr/>
          <p:nvPr/>
        </p:nvSpPr>
        <p:spPr>
          <a:xfrm>
            <a:off x="1636395" y="5713095"/>
            <a:ext cx="41910" cy="41910"/>
          </a:xfrm>
          <a:prstGeom prst="ellipse">
            <a:avLst/>
          </a:prstGeom>
          <a:solidFill>
            <a:srgbClr val="90ABCE"/>
          </a:solidFill>
          <a:ln/>
        </p:spPr>
      </p:sp>
      <p:sp>
        <p:nvSpPr>
          <p:cNvPr id="9" name="Shape 7"/>
          <p:cNvSpPr/>
          <p:nvPr/>
        </p:nvSpPr>
        <p:spPr>
          <a:xfrm>
            <a:off x="1903095" y="5713095"/>
            <a:ext cx="41910" cy="41910"/>
          </a:xfrm>
          <a:prstGeom prst="ellipse">
            <a:avLst/>
          </a:prstGeom>
          <a:solidFill>
            <a:srgbClr val="90ABCE"/>
          </a:solidFill>
          <a:ln/>
        </p:spPr>
      </p:sp>
      <p:sp>
        <p:nvSpPr>
          <p:cNvPr id="10" name="Shape 8"/>
          <p:cNvSpPr/>
          <p:nvPr/>
        </p:nvSpPr>
        <p:spPr>
          <a:xfrm>
            <a:off x="2169795" y="5713095"/>
            <a:ext cx="41910" cy="41910"/>
          </a:xfrm>
          <a:prstGeom prst="ellipse">
            <a:avLst/>
          </a:prstGeom>
          <a:solidFill>
            <a:srgbClr val="90ABCE"/>
          </a:solidFill>
          <a:ln/>
        </p:spPr>
      </p:sp>
      <p:sp>
        <p:nvSpPr>
          <p:cNvPr id="11" name="Shape 9"/>
          <p:cNvSpPr/>
          <p:nvPr/>
        </p:nvSpPr>
        <p:spPr>
          <a:xfrm>
            <a:off x="2436495" y="5713095"/>
            <a:ext cx="41910" cy="41910"/>
          </a:xfrm>
          <a:prstGeom prst="ellipse">
            <a:avLst/>
          </a:prstGeom>
          <a:solidFill>
            <a:srgbClr val="90ABCE"/>
          </a:solidFill>
          <a:ln/>
        </p:spPr>
      </p:sp>
      <p:sp>
        <p:nvSpPr>
          <p:cNvPr id="12" name="Text 10"/>
          <p:cNvSpPr/>
          <p:nvPr/>
        </p:nvSpPr>
        <p:spPr>
          <a:xfrm rot="16200000">
            <a:off x="11525250" y="28575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 SMD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71170" y="1271531"/>
            <a:ext cx="428625" cy="0"/>
          </a:xfrm>
          <a:prstGeom prst="line">
            <a:avLst/>
          </a:prstGeom>
          <a:noFill/>
          <a:ln w="12700">
            <a:solidFill>
              <a:srgbClr val="90AB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36395" y="1181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 DE LA PRÉSENTATION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23950" y="2667000"/>
            <a:ext cx="476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Merci</a:t>
            </a:r>
            <a:endParaRPr lang="en-US" sz="5600" dirty="0"/>
          </a:p>
        </p:txBody>
      </p:sp>
      <p:sp>
        <p:nvSpPr>
          <p:cNvPr id="16" name="Shape 14"/>
          <p:cNvSpPr/>
          <p:nvPr/>
        </p:nvSpPr>
        <p:spPr>
          <a:xfrm>
            <a:off x="1162050" y="4038600"/>
            <a:ext cx="1143000" cy="0"/>
          </a:xfrm>
          <a:prstGeom prst="line">
            <a:avLst/>
          </a:prstGeom>
          <a:noFill/>
          <a:ln w="12700">
            <a:solidFill>
              <a:srgbClr val="90AB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3815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C7D2E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 votre attention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3000" y="4953000"/>
            <a:ext cx="190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0AB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SUITE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" y="516255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Questions /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1305</Words>
  <Application>Microsoft Office PowerPoint</Application>
  <PresentationFormat>Grand écran</PresentationFormat>
  <Paragraphs>334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8" baseType="lpstr">
      <vt:lpstr>Aptos</vt:lpstr>
      <vt:lpstr>Arial</vt:lpstr>
      <vt:lpstr>Calibri</vt:lpstr>
      <vt:lpstr>DejaVu Sans Mono</vt:lpstr>
      <vt:lpstr>Poppins</vt:lpstr>
      <vt:lpstr>Times New Roman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randriamahatsarahenintsoaolivi@gmail.com</cp:lastModifiedBy>
  <cp:revision>14</cp:revision>
  <dcterms:created xsi:type="dcterms:W3CDTF">2026-09-14T18:48:23Z</dcterms:created>
  <dcterms:modified xsi:type="dcterms:W3CDTF">2026-09-14T21:00:42Z</dcterms:modified>
</cp:coreProperties>
</file>